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378fd9-5f78-9a3f-8e7f-46222e3e6b91}">
          <p14:sldIdLst>
            <p14:sldId id="256"/>
            <p14:sldId id="257"/>
            <p14:sldId id="258"/>
          </p14:sldIdLst>
        </p14:section>
        <p14:section name="Part 1 · Nobody draws it" id="{81169475-fdc0-39ab-f786-d82a0c5311bc}">
          <p14:sldIdLst>
            <p14:sldId id="259"/>
            <p14:sldId id="260"/>
            <p14:sldId id="261"/>
            <p14:sldId id="262"/>
          </p14:sldIdLst>
        </p14:section>
        <p14:section name="Part 2 · How one step works" id="{228e8f91-22cd-f39d-0dbf-385111ebbee1}">
          <p14:sldIdLst>
            <p14:sldId id="263"/>
            <p14:sldId id="264"/>
          </p14:sldIdLst>
        </p14:section>
        <p14:section name="Part 2 · The code" id="{37cf5712-aa44-09aa-cdf1-684796711ea1}">
          <p14:sldIdLst>
            <p14:sldId id="265"/>
            <p14:sldId id="266"/>
            <p14:sldId id="267"/>
            <p14:sldId id="268"/>
          </p14:sldIdLst>
        </p14:section>
        <p14:section name="Part 2 · What it learned" id="{e71d459f-9d94-3355-3f9c-af566c6e3a37}">
          <p14:sldIdLst>
            <p14:sldId id="269"/>
            <p14:sldId id="270"/>
          </p14:sldIdLst>
        </p14:section>
        <p14:section name="Part 2 · Training" id="{f75f22a2-6de5-ffa7-1a80-31f78f3b8168}">
          <p14:sldIdLst>
            <p14:sldId id="271"/>
            <p14:sldId id="272"/>
            <p14:sldId id="273"/>
            <p14:sldId id="274"/>
            <p14:sldId id="275"/>
          </p14:sldIdLst>
        </p14:section>
        <p14:section name="Part 3 · When it fell apart" id="{3d297c95-9053-ec27-603d-e690a17b6824}">
          <p14:sldIdLst>
            <p14:sldId id="276"/>
            <p14:sldId id="277"/>
          </p14:sldIdLst>
        </p14:section>
        <p14:section name="Results" id="{d69361bd-8340-5733-cdc7-414ced7755fb}">
          <p14:sldIdLst>
            <p14:sldId id="278"/>
            <p14:sldId id="279"/>
          </p14:sldIdLst>
        </p14:section>
        <p14:section name="Closing" id="{b7e19018-8ed1-89f4-2d24-3af2ac429a40}">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Error ×1000</c:v>
                </c:pt>
              </c:strCache>
            </c:strRef>
          </c:tx>
          <c:spPr>
            <a:solidFill>
              <a:srgbClr val="111111"/>
            </a:solidFill>
            <a:ln w="38100" cap="flat">
              <a:solidFill>
                <a:srgbClr val="111111"/>
              </a:solidFill>
              <a:prstDash val="solid"/>
              <a:round/>
            </a:ln>
            <a:effectLst/>
          </c:spPr>
          <c:invertIfNegative val="0"/>
          <c:dLbls>
            <c:numFmt formatCode="0.0" sourceLinked="0"/>
            <c:txPr>
              <a:bodyPr/>
              <a:lstStyle/>
              <a:p>
                <a:pPr>
                  <a:defRPr b="0" i="0" strike="noStrike" sz="1200" u="none">
                    <a:solidFill>
                      <a:srgbClr val="111111"/>
                    </a:solidFill>
                    <a:latin typeface="Calibri"/>
                  </a:defRPr>
                </a:pPr>
              </a:p>
            </c:txPr>
            <c:dLblPos val="t"/>
            <c:showLegendKey val="0"/>
            <c:showVal val="1"/>
            <c:showCatName val="0"/>
            <c:showSerName val="0"/>
            <c:showPercent val="0"/>
            <c:showBubbleSize val="0"/>
            <c:showLeaderLines val="0"/>
          </c:dLbls>
          <c:marker>
            <c:symbol val="circle"/>
            <c:size val="9"/>
            <c:spPr>
              <a:solidFill>
                <a:srgbClr val="111111"/>
              </a:solidFill>
              <a:ln w="9525" cap="flat">
                <a:solidFill>
                  <a:srgbClr val="111111"/>
                </a:solidFill>
                <a:prstDash val="solid"/>
                <a:round/>
              </a:ln>
              <a:effectLst/>
            </c:spPr>
          </c:marker>
          <c:cat>
            <c:multiLvlStrRef>
              <c:f>Sheet1!$A$2:$A$12</c:f>
              <c:multiLvlStrCache>
                <c:ptCount val="11"/>
                <c:lvl>
                  <c:pt idx="0">
                    <c:v>0</c:v>
                  </c:pt>
                  <c:pt idx="1">
                    <c:v>500</c:v>
                  </c:pt>
                  <c:pt idx="2">
                    <c:v>1,000</c:v>
                  </c:pt>
                  <c:pt idx="3">
                    <c:v>1,500</c:v>
                  </c:pt>
                  <c:pt idx="4">
                    <c:v>2,000</c:v>
                  </c:pt>
                  <c:pt idx="5">
                    <c:v>2,500</c:v>
                  </c:pt>
                  <c:pt idx="6">
                    <c:v>3,000</c:v>
                  </c:pt>
                  <c:pt idx="7">
                    <c:v>3,500</c:v>
                  </c:pt>
                  <c:pt idx="8">
                    <c:v>4,000</c:v>
                  </c:pt>
                  <c:pt idx="9">
                    <c:v>4,500</c:v>
                  </c:pt>
                  <c:pt idx="10">
                    <c:v>5,000</c:v>
                  </c:pt>
                </c:lvl>
              </c:multiLvlStrCache>
            </c:multiLvlStrRef>
          </c:cat>
          <c:val>
            <c:numRef>
              <c:f>Sheet1!$B$2:$B$12</c:f>
              <c:numCache>
                <c:formatCode>General</c:formatCode>
                <c:ptCount val="11"/>
                <c:pt idx="0">
                  <c:v>36.7</c:v>
                </c:pt>
                <c:pt idx="1">
                  <c:v>16.1</c:v>
                </c:pt>
                <c:pt idx="2">
                  <c:v>5.6</c:v>
                </c:pt>
                <c:pt idx="3">
                  <c:v>4.5</c:v>
                </c:pt>
                <c:pt idx="4">
                  <c:v>2.8</c:v>
                </c:pt>
                <c:pt idx="5">
                  <c:v>1.1</c:v>
                </c:pt>
                <c:pt idx="6">
                  <c:v>0.7</c:v>
                </c:pt>
                <c:pt idx="7">
                  <c:v>0.8</c:v>
                </c:pt>
                <c:pt idx="8">
                  <c:v>1.2</c:v>
                </c:pt>
                <c:pt idx="9">
                  <c:v>0.3</c:v>
                </c:pt>
                <c:pt idx="10">
                  <c:v>0.4</c:v>
                </c:pt>
              </c:numCache>
            </c:numRef>
          </c:val>
          <c:smooth val="0"/>
        </c:ser>
        <c:dLbls>
          <c:numFmt formatCode="0.0" sourceLinked="0"/>
          <c:txPr>
            <a:bodyPr/>
            <a:lstStyle/>
            <a:p>
              <a:pPr>
                <a:defRPr b="0" i="0" strike="noStrike" sz="1200" u="none">
                  <a:solidFill>
                    <a:srgbClr val="111111"/>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111111"/>
                    </a:solidFill>
                    <a:latin typeface="Calibri"/>
                  </a:defRPr>
                </a:pPr>
                <a:r>
                  <a:rPr sz="1300" b="0" i="0" u="none" strike="noStrike">
                    <a:solidFill>
                      <a:srgbClr val="111111"/>
                    </a:solidFill>
                    <a:latin typeface="Calibri"/>
                  </a:rPr>
                  <a:t>Training round</a:t>
                </a:r>
              </a:p>
            </c:rich>
          </c:tx>
          <c:layout/>
          <c:overlay val="0"/>
        </c:title>
        <c:numFmt formatCode="General" sourceLinked="1"/>
        <c:majorTickMark val="out"/>
        <c:minorTickMark val="none"/>
        <c:tickLblPos val="low"/>
        <c:spPr>
          <a:ln w="12700" cap="flat">
            <a:solidFill>
              <a:srgbClr val="111111"/>
            </a:solidFill>
            <a:prstDash val="solid"/>
            <a:round/>
          </a:ln>
        </c:spPr>
        <c:txPr>
          <a:bodyPr/>
          <a:lstStyle/>
          <a:p>
            <a:pPr>
              <a:defRPr sz="1300" b="0" i="0" u="none" strike="noStrike">
                <a:solidFill>
                  <a:srgbClr val="111111"/>
                </a:solidFill>
                <a:latin typeface="Calibri"/>
              </a:defRPr>
            </a:pPr>
            <a:endParaRPr lang="en-US"/>
          </a:p>
        </c:txPr>
        <c:crossAx val="2094734552"/>
        <c:crosses val="autoZero"/>
        <c:auto val="1"/>
        <c:lblAlgn val="ctr"/>
        <c:noMultiLvlLbl val="1"/>
      </c:catAx>
      <c:valAx>
        <c:axId val="2094734552"/>
        <c:scaling>
          <c:logBase val="10"/>
          <c:orientation val="minMax"/>
          <c:max val="100"/>
          <c:min val="0.1"/>
        </c:scaling>
        <c:delete val="0"/>
        <c:axPos val="l"/>
        <c:majorGridlines>
          <c:spPr>
            <a:ln w="6350" cap="flat">
              <a:solidFill>
                <a:srgbClr val="8A6A12"/>
              </a:solidFill>
              <a:prstDash val="solid"/>
              <a:round/>
            </a:ln>
          </c:spPr>
        </c:majorGridlines>
        <c:title>
          <c:tx>
            <c:rich>
              <a:bodyPr/>
              <a:lstStyle/>
              <a:p>
                <a:pPr>
                  <a:defRPr sz="1300" b="0" i="0" u="none" strike="noStrike">
                    <a:solidFill>
                      <a:srgbClr val="111111"/>
                    </a:solidFill>
                    <a:latin typeface="Calibri"/>
                  </a:defRPr>
                </a:pPr>
                <a:r>
                  <a:rPr sz="1300" b="0" i="0" u="none" strike="noStrike">
                    <a:solidFill>
                      <a:srgbClr val="111111"/>
                    </a:solidFill>
                    <a:latin typeface="Calibri"/>
                  </a:rPr>
                  <a:t>Error ×1000 (log scale)</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11111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Shape match</c:v>
                </c:pt>
              </c:strCache>
            </c:strRef>
          </c:tx>
          <c:spPr>
            <a:solidFill>
              <a:srgbClr val="F6F0E2"/>
            </a:solidFill>
            <a:effectLst/>
          </c:spPr>
          <c:invertIfNegative val="0"/>
          <c:dLbls>
            <c:numFmt formatCode="General&quot;%&quot;" sourceLinked="0"/>
            <c:txPr>
              <a:bodyPr/>
              <a:lstStyle/>
              <a:p>
                <a:pPr>
                  <a:defRPr b="1" i="0" strike="noStrike" sz="1800" u="none">
                    <a:solidFill>
                      <a:srgbClr val="111111"/>
                    </a:solidFill>
                    <a:latin typeface="Bahnschrift SemiBold Condensed"/>
                  </a:defRPr>
                </a:pPr>
              </a:p>
            </c:txPr>
            <c:showLegendKey val="0"/>
            <c:showVal val="1"/>
            <c:showCatName val="0"/>
            <c:showSerName val="0"/>
            <c:showPercent val="0"/>
            <c:showBubbleSize val="0"/>
            <c:showLeaderLines val="0"/>
          </c:dLbls>
          <c:dPt>
            <c:idx val="0"/>
            <c:invertIfNegative val="0"/>
            <c:bubble3D val="0"/>
            <c:spPr>
              <a:solidFill>
                <a:srgbClr val="F6F0E2"/>
              </a:solidFill>
              <a:effectLst/>
            </c:spPr>
          </c:dPt>
          <c:dPt>
            <c:idx val="1"/>
            <c:invertIfNegative val="0"/>
            <c:bubble3D val="0"/>
            <c:spPr>
              <a:solidFill>
                <a:srgbClr val="111111"/>
              </a:solidFill>
              <a:effectLst/>
            </c:spPr>
          </c:dPt>
          <c:dPt>
            <c:idx val="2"/>
            <c:invertIfNegative val="0"/>
            <c:bubble3D val="0"/>
            <c:spPr>
              <a:solidFill>
                <a:srgbClr val="F6F0E2"/>
              </a:solidFill>
              <a:effectLst/>
            </c:spPr>
          </c:dPt>
          <c:dPt>
            <c:idx val="3"/>
            <c:invertIfNegative val="0"/>
            <c:bubble3D val="0"/>
            <c:spPr>
              <a:solidFill>
                <a:srgbClr val="111111"/>
              </a:solidFill>
              <a:effectLst/>
            </c:spPr>
          </c:dPt>
          <c:cat>
            <c:multiLvlStrRef>
              <c:f>Sheet1!$A$2:$A$5</c:f>
              <c:multiLvlStrCache>
                <c:ptCount val="4"/>
                <c:lvl>
                  <c:pt idx="0">
                    <c:v>Lizard · first try</c:v>
                  </c:pt>
                  <c:pt idx="1">
                    <c:v>Lizard · fixed</c:v>
                  </c:pt>
                  <c:pt idx="2">
                    <c:v>Butterfly · first try</c:v>
                  </c:pt>
                  <c:pt idx="3">
                    <c:v>Butterfly · fixed</c:v>
                  </c:pt>
                </c:lvl>
              </c:multiLvlStrCache>
            </c:multiLvlStrRef>
          </c:cat>
          <c:val>
            <c:numRef>
              <c:f>Sheet1!$B$2:$B$5</c:f>
              <c:numCache>
                <c:formatCode>General</c:formatCode>
                <c:ptCount val="4"/>
                <c:pt idx="0">
                  <c:v>86</c:v>
                </c:pt>
                <c:pt idx="1">
                  <c:v>98.7</c:v>
                </c:pt>
                <c:pt idx="2">
                  <c:v>49</c:v>
                </c:pt>
                <c:pt idx="3">
                  <c:v>97</c:v>
                </c:pt>
              </c:numCache>
            </c:numRef>
          </c:val>
        </c:ser>
        <c:dLbls>
          <c:numFmt formatCode="General&quot;%&quot;" sourceLinked="0"/>
          <c:txPr>
            <a:bodyPr/>
            <a:lstStyle/>
            <a:p>
              <a:pPr>
                <a:defRPr b="1" i="0" strike="noStrike" sz="1800" u="none">
                  <a:solidFill>
                    <a:srgbClr val="111111"/>
                  </a:solidFill>
                  <a:latin typeface="Bahnschrift SemiBold Condensed"/>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500" b="0" i="0" u="none" strike="noStrike">
                <a:solidFill>
                  <a:srgbClr val="111111"/>
                </a:solidFill>
                <a:latin typeface="Calibri"/>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to lecture 2 of Wait! A computer can do that? Today: pixels that grow into a lizard — and heal themselves when you cut them."
WHAT'S ON THE SLIDE: the three lizards are real frames from the trained model at steps 15, 60 and 300. Nobody drew them — the program grew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today comes from three things: one cell, one rule, one lizard. By the end you'll know exactly how."
WHAT IT MEANS:
• One cell — everything starts from a single living pixel.
• One rule — every cell runs the same tiny program (a neural network).
• One lizard — the result.
The black markings on the white lizard are the lizard's own hidden "chemistry" (hidden channels 5 and 7), printed like a stencil.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journey. One cell. It grows. I cut it in half. And it grows back. Let me show you live."
→ LIVE DEMO NOW (about 3 minutes): open the site, plant one cell, let it grow, then cut it with the mouse and let the room watch it heal.
WHAT IT MEANS: the story of the whole talk — a single living pixel → growth with no blueprint → half the body deleted → the surviving cells rebuild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"Part one. The strangest thing about what you just saw: nobody drew that lizard."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 pixel knows what a lizard looks like. Each one can only see the 8 squares touching it. Like ants in a colony — each one simple, together building something none of them understands."
WHAT IT MEANS: each cell's whole world is a 3 × 3 square. It doesn't know where it is in the lizard, how big the lizard is, or that a lizard exists. The shape comes from all of them following the same local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"Each cell has three things. Eyes that only see its neighbours. Sixteen numbers of memory — four visible colour, twelve invisible signals. And one rule, the same in every cell."
WHAT IT MEANS:
• Sees 8 neighbours — its input is only the 3 × 3 square.
• 16 numbers — red, green, blue, alive (alpha) + 12 hidden numbers that never show on screen. Cells use them to pass messages ("I'm near the head", "the tail is that way"). The middle picture is one hidden number across the whole body.
• One rule — the same neural network in every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entire brain — 8,320 numbers. Not a picture of a lizard: a recipe for growing one. Every cell shares the same recipe."
THE MATHS:
• Layer 1: 48 inputs × 128 outputs = 6,144 weights, plus 128 biases.
• Layer 2: 128 × 16 = 2,048 weights.
• Total = 6,144 + 128 + 2,048 = 8,320.
One copy is shared by all 5,184 cells (72 × 72 grid). A plain picture of the lizard would be 6,400 numbers (40 × 40 × 4) — but these 8,320 are instructions for GROWING one, which can also repair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"Part two: what actually happens in one step." One "step" = every cell updates once. The page runs many steps a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step, every cell does four things: look, think, act, and live or die. The next four slides show each one in real code."
1. LOOK — read the 3 × 3 square and turn it into 48 numbers.
2. THINK — the neural network turns those 48 into 16 small changes.
3. ACT — add the changes, but only about half the cells (chosen at random) update each step.
4. LIVE OR DIE — a cell with no living neighbour is wiped back to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real code. Five lines do everything: check who's alive, look, think, flip a coin, live or die — on the whole grid in one go."
LINE BY LINE:
• forward = PyTorch's name for "run the model once". x = the whole grid (72 × 72 cells × 16 numbers), so every line acts on all cells at once.
❶ pre = self.alive(x): before changing anything, record which cells have a living neighbour.
❷ self.perceive(x): the LOOK step → 48 numbers per cell.
❸ self.w2(F.relu(self.w1(...))): the THINK step → layer 1, ReLU, layer 2 → dx = 16 changes per cell.
❹ mask = rand &lt;= FIRE_RATE (0.5): a coin flip per cell. Only winners apply their change: x = x + dx * mask.
❺ return x * (pre &amp; post): keep a cell only if it had living neighbours before AND after; everything else becomes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cell sees through three filters. One asks 'what am I?' One asks 'is it stronger to my left or right?' One asks 'above or below?' That gives it a sense of direction — and direction is what lets a shape form."
WHAT A FILTER IS: a 3 × 3 grid of weights laid over the neighbourhood — multiply each neighbour by its number and add them up.
❶ Identity (1 in the middle) = the cell's own value.
❷ Sobel-x: −1, −2, −1 on the left, +1, +2, +1 on the right → (right side) − (left side).
❸ Sobel-y: the same, turned on its side → (below) − (above).
❹ Applied to all 16 numbers → 48 per cell. "circular" padding = the grid wraps at its edges like a video-game map. groups=CHANNELS = each of the 16 numbers is filtered separately.
WHY IT MATTERS: without a sense of direction every cell would behave the same and no shape could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brain is two layers: 48 to 128, then 128 to 16. It starts at zero so it can't go wild, and only half the cells update each step — like real cells with no shared clock."
❶ nn.Conv2d(48, 128, 1): layer 1. The final "1" = a 1 × 1 convolution = apply the same small network to every cell on its own.
❷ nn.Conv2d(128, 16, 1): layer 2 → one change for each of the cell's 16 numbers.
❸ zeros_: the last layer starts at zero, so an untrained creature does nothing instead of exploding into noise.
❹ ReLU: "negative becomes 0" — this kink lets the network make yes/no-style decisions instead of just averaging.
❺ The coin flip: randomness forces the rule to work in any update order, which also makes it robust.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keeps the body tidy. A cell can only be alive if a neighbour is alive. Life spreads outward from the seed, and stray pixels can't pop up in empty space."
❶ Channel 4 = alpha = "how alive am I", 0 to 1.
❷ max_pool2d(..., 3) looks at each 3 × 3 square and takes the LARGEST alpha → "is anyone near me alive?"
❸ &gt; 0.1 → part of the living area.
❹ Everything outside the living area (before AND after the step) is set to all zeros.
WHY: without this, random noise could appear anywhere; with it, life can only spread outward from living cells, one ring per step — that's why one seed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cells' invisible signals. I never told it to make these — it invented them, the way an embryo uses chemical gradients to know where the head goes. Honestly, nobody fully knows what each one means."
WHAT IT MEANS: each picture is ONE of the 12 hidden numbers across the grown lizard (dark = strong). Some look like gradients ("strong at the head, weak at the tail") — that's how a cell can tell where it is. Others outline body parts. In biology, chemical gradients called morphogens tell embryo cells "you're becoming a leg" or "a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 the left, what I asked for. On the right, what it grew from one cell — nobody drew it. 98.7% the same shape."
HOW "SHAPE MATCH" IS MEASURED: count pixels that are alive in BOTH images, divided by pixels alive in EITHER. 100% would be a perfect overlap. The emoji is the only "answer key" the training 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learning curve. Every round it makes mistakes, measures them, and adjusts. Over 5,000 rounds its error fell about a hundredfold."
READING THE CHART: each point is the error (loss × 1000) at that stage. The vertical axis is logarithmic — each gridline is 10× smaller than the one above — so 36.7 → 0.4 is about 100× better. Wobbles are normal: every round uses random creatures, random wounds and random coin flips. Training ran in two rounds (2,000 steps, then 3,000 more with the stress test) on my laptop's RTX 5060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"Training is practice. Pick some creatures, restart the worst, wound the best, let them live, score them, adjust the brain, put them back — thousands of times."
❶ Pool: 1,024 creatures at every stage (just seeded, grown, damaged). Each round picks 8.
❷ The worst one restarts from a single cell → it keeps practising growing from scratch.
❸ The best three get wounded → it keeps practising healing.
❹ They live 64–96 steps (random, so it can't cheat by timing itself).
❺ Loss = average squared difference from the emoji (colour + alpha). 0 would be perfect.
❻ backward() = backpropagation (how did each of the 8,320 numbers contribute to the error?). opt.step() = the Adam optimizer nudges each number slightly.
❼ Put them back: next time they're picked they continue from where they were. This is the secret to long-term stability — the rule must KEEP a lizard right across many rounds, not just reach it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teach healing, I hurt it on purpose — random holes and random cuts. Nobody told it how to heal; healed lizards just scored better, so the rule learned to heal."
❶ A round hole: random centre, random size.
❷ A straight cut: random angle, wiping everything on one side.
❸ A coin flip picks which. My first version only used holes → the butterfly couldn't regrow a whole wing because it had never practised that. Adding cuts took its healing from 48% to 94.7%.
❹ The wounded cells are wiped completely (all 16 numbers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so often I gave it an exam: grow, survive a long time, heal after being cut in half. I graded it on its worst result and only kept versions that beat the previous best."
❶ Grow: score after 200 steps from one cell.
❷ Last: keep running to 6,000 steps and score again — this caught the biggest bug (the butterfly looked perfect at 200 and had fallen apart by 5,000).
❸ Heal: cut in half, 300 steps, score again.
❹ Judge by the worst of the three — one weakness ruins the demo.
❺ Save only if it beats the best so far → the demo can only ever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run it in your browser I rewrote the brain in JavaScript and checked it against the original. The biggest difference was 10 to the minus 15. It's the same brain."
WHY: training happens in Python (PyTorch), but the website runs in any browser with nothing installed — so the rule was rewritten by hand in JavaScript.
❶ The Sobel filters as plain arithmetic: neighbours weighted −1, −2, +1, +2.
❷ The network as two loops: multiply, add, ReLU. The 8,320 trained numbers load from a 240 KB file (weights/lizard.json).
❸ Add the changes → about 100 steps a second.
10⁻¹⁵ = 0.000000000000001 — the biggest difference after 40 steps. Identical. Comparing number by number also found two real bugs: edge cells not being updated (the versions split after 22 steps) and tiny 32-bit numbers making the browser 7×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"Part three. Getting it to grow was the easy part. Getting it to STAY alive was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"My butterfly looked perfect, then slowly forgot what it was. It had learned to grow but not to stay. Testing over thousands of steps exposed it, and fixing the training took it from 49% to 97%."
WHAT HAPPENED: after the first 2,000 training rounds the butterfly reached 88% at step 200, then slowly fell apart to 49% by step 5,000 — small errors piling up over thousands of steps, like a rumour getting more wrong each time it's retold. The fix: more training with the stress test and straight-cut wounds. The lizard went 86% → 98.7%. (Shape match measured after thousands of steps with the browser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final numbers: the lizard holds 98.7% for ten thousand steps, the butterfly heals to 94.7% after being sliced in half, and the browser version is identical to the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lessons I'd give anyone building something like this. Test longer than feels necessary. Practise the hard case. Check your hardware. And prove your copy matches the original."
DETAILS:
• Something can look perfect early and fail later (the butterfly).
• It couldn't heal half-cuts until training included them.
• On battery Windows throttles the GPU — training ran 5× slower.
• Comparing browser vs PyTorch number by number found two bugs: edge cells not being updated (versions split after 22 steps) and tiny 32-bit numbers ("denormals") making the browser 7× slower.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slowly. Pause. Then SAY: "That's what this whole project is. Not a picture. A rule."
BACKGROUND: planarians are small flatworms that regrow a complete body from a fragment. Biology doesn't store blueprints — it stores rules. The research this project is based on: "Growing Neural Cellular Automata" by Mordvintsev, Randazzo, Niklasson and Levin (Distill, 2020). Michael Levin is a biologist who studies how cells coordinate to build and repair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turn. Scan this, plant one cell, and cut it however you like. It will grow back. I'll take questions while you try."
The QR opens ONLY this demo on their phones — the other sessions are locked for them. To unlock on your own phone afterwards: visit the site with ?unlock at the end.
LIKELY QUESTIONS:
• Is this real AI? Yes — a neural network trained by gradient descent, the same method as every modern AI, just tiny (8,320 numbers).
• Does it store the lizard picture? No — only the 8,320 rule numbers.
• What if I cut off the head? It regrows, as long as enough cells survive. Erase almost everything and it can't recover — like biology.
• Why random updates? Real cells aren't in sync; randomness makes the rule robust.
• How long did training take? About an hour on a laptop GPU (much faster plugged in).
• Why useful? Self-repairing materials and robots, self-organising robot swarms, and understanding how bodies grow and heal.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16-image-1.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Slide-22-image-1.jpe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0" y="685800"/>
            <a:ext cx="12191695" cy="457200"/>
          </a:xfrm>
          <a:prstGeom prst="rect">
            <a:avLst/>
          </a:prstGeom>
          <a:noFill/>
          <a:ln/>
        </p:spPr>
        <p:txBody>
          <a:bodyPr wrap="square" lIns="0" tIns="0" rIns="0" bIns="0" rtlCol="0" anchor="ctr"/>
          <a:lstStyle/>
          <a:p>
            <a:pPr algn="ctr" indent="0" marL="0">
              <a:buNone/>
            </a:pPr>
            <a:r>
              <a:rPr lang="en-US" sz="2600" spc="600" kern="0" dirty="0">
                <a:solidFill>
                  <a:srgbClr val="111111"/>
                </a:solidFill>
                <a:latin typeface="Bahnschrift SemiBold Condensed" pitchFamily="34" charset="0"/>
                <a:ea typeface="Bahnschrift SemiBold Condensed" pitchFamily="34" charset="-122"/>
                <a:cs typeface="Bahnschrift SemiBold Condensed" pitchFamily="34" charset="-120"/>
              </a:rPr>
              <a:t>WAIT! A COMPUTER CAN DO THAT?</a:t>
            </a:r>
            <a:endParaRPr lang="en-US" sz="2600" dirty="0"/>
          </a:p>
        </p:txBody>
      </p:sp>
      <p:sp>
        <p:nvSpPr>
          <p:cNvPr id="3" name="Shape 1"/>
          <p:cNvSpPr/>
          <p:nvPr/>
        </p:nvSpPr>
        <p:spPr>
          <a:xfrm>
            <a:off x="4251960" y="1444752"/>
            <a:ext cx="640080" cy="0"/>
          </a:xfrm>
          <a:prstGeom prst="line">
            <a:avLst/>
          </a:prstGeom>
          <a:noFill/>
          <a:ln w="25400">
            <a:solidFill>
              <a:srgbClr val="111111"/>
            </a:solidFill>
            <a:prstDash val="solid"/>
          </a:ln>
        </p:spPr>
      </p:sp>
      <p:sp>
        <p:nvSpPr>
          <p:cNvPr id="4" name="Text 2"/>
          <p:cNvSpPr txBox="1"/>
          <p:nvPr/>
        </p:nvSpPr>
        <p:spPr>
          <a:xfrm>
            <a:off x="4983480" y="1280160"/>
            <a:ext cx="2221992" cy="329184"/>
          </a:xfrm>
          <a:prstGeom prst="rect">
            <a:avLst/>
          </a:prstGeom>
          <a:noFill/>
          <a:ln/>
        </p:spPr>
        <p:txBody>
          <a:bodyPr wrap="square" lIns="0" tIns="0" rIns="0" bIns="0" rtlCol="0" anchor="ctr"/>
          <a:lstStyle/>
          <a:p>
            <a:pPr algn="ctr" indent="0" marL="0">
              <a:buNone/>
            </a:pPr>
            <a:r>
              <a:rPr lang="en-US" sz="1800" spc="800" kern="0" dirty="0">
                <a:solidFill>
                  <a:srgbClr val="111111"/>
                </a:solidFill>
                <a:latin typeface="Bahnschrift SemiBold Condensed" pitchFamily="34" charset="0"/>
                <a:ea typeface="Bahnschrift SemiBold Condensed" pitchFamily="34" charset="-122"/>
                <a:cs typeface="Bahnschrift SemiBold Condensed" pitchFamily="34" charset="-120"/>
              </a:rPr>
              <a:t>LECTURE 02</a:t>
            </a:r>
            <a:endParaRPr lang="en-US" sz="1800" dirty="0"/>
          </a:p>
        </p:txBody>
      </p:sp>
      <p:sp>
        <p:nvSpPr>
          <p:cNvPr id="5" name="Shape 3"/>
          <p:cNvSpPr/>
          <p:nvPr/>
        </p:nvSpPr>
        <p:spPr>
          <a:xfrm>
            <a:off x="7296912" y="1444752"/>
            <a:ext cx="640080" cy="0"/>
          </a:xfrm>
          <a:prstGeom prst="line">
            <a:avLst/>
          </a:prstGeom>
          <a:noFill/>
          <a:ln w="25400">
            <a:solidFill>
              <a:srgbClr val="111111"/>
            </a:solidFill>
            <a:prstDash val="solid"/>
          </a:ln>
        </p:spPr>
      </p:sp>
      <p:pic>
        <p:nvPicPr>
          <p:cNvPr id="6" name="grow_1_step15.png" descr="grow 1 step15 png">    </p:cNvPr>
          <p:cNvPicPr>
            <a:picLocks noChangeAspect="1"/>
          </p:cNvPicPr>
          <p:nvPr/>
        </p:nvPicPr>
        <p:blipFill>
          <a:blip r:embed="rId2"/>
          <a:stretch>
            <a:fillRect/>
          </a:stretch>
        </p:blipFill>
        <p:spPr>
          <a:xfrm>
            <a:off x="2857500" y="4297680"/>
            <a:ext cx="777240" cy="777240"/>
          </a:xfrm>
          <a:prstGeom prst="rect">
            <a:avLst/>
          </a:prstGeom>
        </p:spPr>
      </p:pic>
      <p:pic>
        <p:nvPicPr>
          <p:cNvPr id="7" name="grow_3_step60.png" descr="grow 3 step60 png">    </p:cNvPr>
          <p:cNvPicPr>
            <a:picLocks noChangeAspect="1"/>
          </p:cNvPicPr>
          <p:nvPr/>
        </p:nvPicPr>
        <p:blipFill>
          <a:blip r:embed="rId3"/>
          <a:stretch>
            <a:fillRect/>
          </a:stretch>
        </p:blipFill>
        <p:spPr>
          <a:xfrm>
            <a:off x="4366260" y="3474720"/>
            <a:ext cx="1600200" cy="1600200"/>
          </a:xfrm>
          <a:prstGeom prst="rect">
            <a:avLst/>
          </a:prstGeom>
        </p:spPr>
      </p:pic>
      <p:pic>
        <p:nvPicPr>
          <p:cNvPr id="8" name="grow_5_step300.png" descr="grow 5 step300 png">    </p:cNvPr>
          <p:cNvPicPr>
            <a:picLocks noChangeAspect="1"/>
          </p:cNvPicPr>
          <p:nvPr/>
        </p:nvPicPr>
        <p:blipFill>
          <a:blip r:embed="rId4"/>
          <a:stretch>
            <a:fillRect/>
          </a:stretch>
        </p:blipFill>
        <p:spPr>
          <a:xfrm>
            <a:off x="6469380" y="2377440"/>
            <a:ext cx="2697480" cy="2697480"/>
          </a:xfrm>
          <a:prstGeom prst="rect">
            <a:avLst/>
          </a:prstGeom>
        </p:spPr>
      </p:pic>
      <p:sp>
        <p:nvSpPr>
          <p:cNvPr id="9" name="Title"/>
          <p:cNvSpPr txBox="1"/>
          <p:nvPr/>
        </p:nvSpPr>
        <p:spPr>
          <a:xfrm>
            <a:off x="0" y="5440680"/>
            <a:ext cx="12191695" cy="731520"/>
          </a:xfrm>
          <a:prstGeom prst="rect">
            <a:avLst/>
          </a:prstGeom>
          <a:noFill/>
          <a:ln/>
        </p:spPr>
        <p:txBody>
          <a:bodyPr wrap="square" lIns="0" tIns="0" rIns="0" bIns="0" rtlCol="0" anchor="ctr"/>
          <a:lstStyle/>
          <a:p>
            <a:pPr algn="ctr" indent="0" marL="0">
              <a:buNone/>
            </a:pPr>
            <a:r>
              <a:rPr lang="en-US" sz="4800" spc="400" kern="0" dirty="0">
                <a:solidFill>
                  <a:srgbClr val="111111"/>
                </a:solidFill>
                <a:latin typeface="Bahnschrift SemiBold Condensed" pitchFamily="34" charset="0"/>
                <a:ea typeface="Bahnschrift SemiBold Condensed" pitchFamily="34" charset="-122"/>
                <a:cs typeface="Bahnschrift SemiBold Condensed" pitchFamily="34" charset="-120"/>
              </a:rPr>
              <a:t>I TAUGHT PIXELS TO HEAL THEMSELVES</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1143000"/>
            <a:ext cx="6035040" cy="2651760"/>
          </a:xfrm>
          <a:prstGeom prst="rect">
            <a:avLst/>
          </a:prstGeom>
          <a:noFill/>
          <a:ln/>
        </p:spPr>
        <p:txBody>
          <a:bodyPr wrap="square" lIns="0" tIns="0" rIns="0" bIns="0" rtlCol="0" anchor="t"/>
          <a:lstStyle/>
          <a:p>
            <a:pPr indent="0" marL="0">
              <a:lnSpc>
                <a:spcPct val="90000"/>
              </a:lnSpc>
              <a:buNone/>
            </a:pPr>
            <a:r>
              <a:rPr lang="en-US" sz="6600" spc="200" kern="0" dirty="0">
                <a:solidFill>
                  <a:srgbClr val="111111"/>
                </a:solidFill>
                <a:latin typeface="Bahnschrift SemiBold Condensed" pitchFamily="34" charset="0"/>
                <a:ea typeface="Bahnschrift SemiBold Condensed" pitchFamily="34" charset="-122"/>
                <a:cs typeface="Bahnschrift SemiBold Condensed" pitchFamily="34" charset="-120"/>
              </a:rPr>
              <a:t>ONE CELL.</a:t>
            </a:r>
            <a:endParaRPr lang="en-US" sz="6600" dirty="0"/>
          </a:p>
          <a:p>
            <a:pPr indent="0" marL="0">
              <a:lnSpc>
                <a:spcPct val="90000"/>
              </a:lnSpc>
              <a:buNone/>
            </a:pPr>
            <a:r>
              <a:rPr lang="en-US" sz="6600" spc="200" kern="0" dirty="0">
                <a:solidFill>
                  <a:srgbClr val="111111"/>
                </a:solidFill>
                <a:latin typeface="Bahnschrift SemiBold Condensed" pitchFamily="34" charset="0"/>
                <a:ea typeface="Bahnschrift SemiBold Condensed" pitchFamily="34" charset="-122"/>
                <a:cs typeface="Bahnschrift SemiBold Condensed" pitchFamily="34" charset="-120"/>
              </a:rPr>
              <a:t>ONE RULE.</a:t>
            </a:r>
            <a:endParaRPr lang="en-US" sz="6600" dirty="0"/>
          </a:p>
          <a:p>
            <a:pPr indent="0" marL="0">
              <a:lnSpc>
                <a:spcPct val="90000"/>
              </a:lnSpc>
              <a:buNone/>
            </a:pPr>
            <a:r>
              <a:rPr lang="en-US" sz="6600" spc="200" kern="0" dirty="0">
                <a:solidFill>
                  <a:srgbClr val="111111"/>
                </a:solidFill>
                <a:latin typeface="Bahnschrift SemiBold Condensed" pitchFamily="34" charset="0"/>
                <a:ea typeface="Bahnschrift SemiBold Condensed" pitchFamily="34" charset="-122"/>
                <a:cs typeface="Bahnschrift SemiBold Condensed" pitchFamily="34" charset="-120"/>
              </a:rPr>
              <a:t>ONE LIZARD.</a:t>
            </a:r>
            <a:endParaRPr lang="en-US" sz="6600" dirty="0"/>
          </a:p>
        </p:txBody>
      </p:sp>
      <p:sp>
        <p:nvSpPr>
          <p:cNvPr id="3" name="Text 1"/>
          <p:cNvSpPr txBox="1"/>
          <p:nvPr/>
        </p:nvSpPr>
        <p:spPr>
          <a:xfrm>
            <a:off x="731520" y="3977640"/>
            <a:ext cx="5120640" cy="91440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A tiny neural network that grows a creature from a single pixel — and grows it back when you cut it.</a:t>
            </a:r>
            <a:endParaRPr lang="en-US" sz="2000" dirty="0"/>
          </a:p>
        </p:txBody>
      </p:sp>
      <p:sp>
        <p:nvSpPr>
          <p:cNvPr id="4" name="Text 2"/>
          <p:cNvSpPr txBox="1"/>
          <p:nvPr/>
        </p:nvSpPr>
        <p:spPr>
          <a:xfrm>
            <a:off x="731520" y="5212080"/>
            <a:ext cx="54864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WAIT! A COMPUTER CAN DO THAT? · LECTURE 02</a:t>
            </a:r>
            <a:endParaRPr lang="en-US" sz="1400" dirty="0"/>
          </a:p>
        </p:txBody>
      </p:sp>
      <p:pic>
        <p:nvPicPr>
          <p:cNvPr id="5" name="lizard_stencil.png" descr="Stencil print of the grown lizard; its black markings are two of its hidden channels">    </p:cNvPr>
          <p:cNvPicPr>
            <a:picLocks noChangeAspect="1"/>
          </p:cNvPicPr>
          <p:nvPr/>
        </p:nvPicPr>
        <p:blipFill>
          <a:blip r:embed="rId2"/>
          <a:stretch>
            <a:fillRect/>
          </a:stretch>
        </p:blipFill>
        <p:spPr>
          <a:xfrm>
            <a:off x="6400800" y="685800"/>
            <a:ext cx="5486400" cy="5486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JOURNEY</a:t>
            </a:r>
            <a:endParaRPr lang="en-US" sz="4000" dirty="0"/>
          </a:p>
        </p:txBody>
      </p:sp>
      <p:pic>
        <p:nvPicPr>
          <p:cNvPr id="3" name="grow_1_step15.png" descr="grow 1 step15 png">    </p:cNvPr>
          <p:cNvPicPr>
            <a:picLocks noChangeAspect="1"/>
          </p:cNvPicPr>
          <p:nvPr/>
        </p:nvPicPr>
        <p:blipFill>
          <a:blip r:embed="rId2"/>
          <a:stretch>
            <a:fillRect/>
          </a:stretch>
        </p:blipFill>
        <p:spPr>
          <a:xfrm>
            <a:off x="1541107" y="3703320"/>
            <a:ext cx="822960" cy="822960"/>
          </a:xfrm>
          <a:prstGeom prst="rect">
            <a:avLst/>
          </a:prstGeom>
        </p:spPr>
      </p:pic>
      <p:sp>
        <p:nvSpPr>
          <p:cNvPr id="4" name="Shape 1"/>
          <p:cNvSpPr/>
          <p:nvPr/>
        </p:nvSpPr>
        <p:spPr>
          <a:xfrm>
            <a:off x="731520" y="4754880"/>
            <a:ext cx="2442134" cy="0"/>
          </a:xfrm>
          <a:prstGeom prst="line">
            <a:avLst/>
          </a:prstGeom>
          <a:noFill/>
          <a:ln w="25400">
            <a:solidFill>
              <a:srgbClr val="111111"/>
            </a:solidFill>
            <a:prstDash val="solid"/>
          </a:ln>
        </p:spPr>
      </p:sp>
      <p:sp>
        <p:nvSpPr>
          <p:cNvPr id="5" name="Text 2"/>
          <p:cNvSpPr txBox="1"/>
          <p:nvPr/>
        </p:nvSpPr>
        <p:spPr>
          <a:xfrm>
            <a:off x="731520" y="4864608"/>
            <a:ext cx="2442134" cy="320040"/>
          </a:xfrm>
          <a:prstGeom prst="rect">
            <a:avLst/>
          </a:prstGeom>
          <a:noFill/>
          <a:ln/>
        </p:spPr>
        <p:txBody>
          <a:bodyPr wrap="square" lIns="0" tIns="0" rIns="0" bIns="0" rtlCol="0" anchor="ctr"/>
          <a:lstStyle/>
          <a:p>
            <a:pPr indent="0" marL="0">
              <a:buNone/>
            </a:pPr>
            <a:r>
              <a:rPr lang="en-US" sz="2000" spc="200" kern="0" dirty="0">
                <a:solidFill>
                  <a:srgbClr val="111111"/>
                </a:solidFill>
                <a:latin typeface="Bahnschrift SemiBold Condensed" pitchFamily="34" charset="0"/>
                <a:ea typeface="Bahnschrift SemiBold Condensed" pitchFamily="34" charset="-122"/>
                <a:cs typeface="Bahnschrift SemiBold Condensed" pitchFamily="34" charset="-120"/>
              </a:rPr>
              <a:t>01 ONE CELL</a:t>
            </a:r>
            <a:endParaRPr lang="en-US" sz="2000" dirty="0"/>
          </a:p>
        </p:txBody>
      </p:sp>
      <p:sp>
        <p:nvSpPr>
          <p:cNvPr id="6" name="Text 3"/>
          <p:cNvSpPr txBox="1"/>
          <p:nvPr/>
        </p:nvSpPr>
        <p:spPr>
          <a:xfrm>
            <a:off x="731520" y="5230368"/>
            <a:ext cx="2442134" cy="64008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Everything starts from a single living pixel.</a:t>
            </a:r>
            <a:endParaRPr lang="en-US" sz="1500" dirty="0"/>
          </a:p>
        </p:txBody>
      </p:sp>
      <p:pic>
        <p:nvPicPr>
          <p:cNvPr id="7" name="grow_3_step60.png" descr="grow 3 step60 png">    </p:cNvPr>
          <p:cNvPicPr>
            <a:picLocks noChangeAspect="1"/>
          </p:cNvPicPr>
          <p:nvPr/>
        </p:nvPicPr>
        <p:blipFill>
          <a:blip r:embed="rId3"/>
          <a:stretch>
            <a:fillRect/>
          </a:stretch>
        </p:blipFill>
        <p:spPr>
          <a:xfrm>
            <a:off x="3983241" y="3063240"/>
            <a:ext cx="1463040" cy="1463040"/>
          </a:xfrm>
          <a:prstGeom prst="rect">
            <a:avLst/>
          </a:prstGeom>
        </p:spPr>
      </p:pic>
      <p:sp>
        <p:nvSpPr>
          <p:cNvPr id="8" name="Shape 4"/>
          <p:cNvSpPr/>
          <p:nvPr/>
        </p:nvSpPr>
        <p:spPr>
          <a:xfrm>
            <a:off x="3493694" y="4754880"/>
            <a:ext cx="2442134" cy="0"/>
          </a:xfrm>
          <a:prstGeom prst="line">
            <a:avLst/>
          </a:prstGeom>
          <a:noFill/>
          <a:ln w="25400">
            <a:solidFill>
              <a:srgbClr val="111111"/>
            </a:solidFill>
            <a:prstDash val="solid"/>
          </a:ln>
        </p:spPr>
      </p:sp>
      <p:sp>
        <p:nvSpPr>
          <p:cNvPr id="9" name="Text 5"/>
          <p:cNvSpPr txBox="1"/>
          <p:nvPr/>
        </p:nvSpPr>
        <p:spPr>
          <a:xfrm>
            <a:off x="3493694" y="4864608"/>
            <a:ext cx="2442134" cy="320040"/>
          </a:xfrm>
          <a:prstGeom prst="rect">
            <a:avLst/>
          </a:prstGeom>
          <a:noFill/>
          <a:ln/>
        </p:spPr>
        <p:txBody>
          <a:bodyPr wrap="square" lIns="0" tIns="0" rIns="0" bIns="0" rtlCol="0" anchor="ctr"/>
          <a:lstStyle/>
          <a:p>
            <a:pPr indent="0" marL="0">
              <a:buNone/>
            </a:pPr>
            <a:r>
              <a:rPr lang="en-US" sz="2000" spc="200" kern="0" dirty="0">
                <a:solidFill>
                  <a:srgbClr val="111111"/>
                </a:solidFill>
                <a:latin typeface="Bahnschrift SemiBold Condensed" pitchFamily="34" charset="0"/>
                <a:ea typeface="Bahnschrift SemiBold Condensed" pitchFamily="34" charset="-122"/>
                <a:cs typeface="Bahnschrift SemiBold Condensed" pitchFamily="34" charset="-120"/>
              </a:rPr>
              <a:t>02 GROWING</a:t>
            </a:r>
            <a:endParaRPr lang="en-US" sz="2000" dirty="0"/>
          </a:p>
        </p:txBody>
      </p:sp>
      <p:sp>
        <p:nvSpPr>
          <p:cNvPr id="10" name="Text 6"/>
          <p:cNvSpPr txBox="1"/>
          <p:nvPr/>
        </p:nvSpPr>
        <p:spPr>
          <a:xfrm>
            <a:off x="3493694" y="5230368"/>
            <a:ext cx="2442134" cy="64008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No pixel knows what a lizard is.</a:t>
            </a:r>
            <a:endParaRPr lang="en-US" sz="1500" dirty="0"/>
          </a:p>
        </p:txBody>
      </p:sp>
      <p:pic>
        <p:nvPicPr>
          <p:cNvPr id="11" name="heal_1_cut.png" descr="heal 1 cut png">    </p:cNvPr>
          <p:cNvPicPr>
            <a:picLocks noChangeAspect="1"/>
          </p:cNvPicPr>
          <p:nvPr/>
        </p:nvPicPr>
        <p:blipFill>
          <a:blip r:embed="rId4"/>
          <a:stretch>
            <a:fillRect/>
          </a:stretch>
        </p:blipFill>
        <p:spPr>
          <a:xfrm>
            <a:off x="6425374" y="2423160"/>
            <a:ext cx="2103120" cy="2103120"/>
          </a:xfrm>
          <a:prstGeom prst="rect">
            <a:avLst/>
          </a:prstGeom>
        </p:spPr>
      </p:pic>
      <p:sp>
        <p:nvSpPr>
          <p:cNvPr id="12" name="Shape 7"/>
          <p:cNvSpPr/>
          <p:nvPr/>
        </p:nvSpPr>
        <p:spPr>
          <a:xfrm>
            <a:off x="6255868" y="4754880"/>
            <a:ext cx="2442134" cy="0"/>
          </a:xfrm>
          <a:prstGeom prst="line">
            <a:avLst/>
          </a:prstGeom>
          <a:noFill/>
          <a:ln w="25400">
            <a:solidFill>
              <a:srgbClr val="111111"/>
            </a:solidFill>
            <a:prstDash val="solid"/>
          </a:ln>
        </p:spPr>
      </p:sp>
      <p:sp>
        <p:nvSpPr>
          <p:cNvPr id="13" name="Text 8"/>
          <p:cNvSpPr txBox="1"/>
          <p:nvPr/>
        </p:nvSpPr>
        <p:spPr>
          <a:xfrm>
            <a:off x="6255868" y="4864608"/>
            <a:ext cx="2442134" cy="320040"/>
          </a:xfrm>
          <a:prstGeom prst="rect">
            <a:avLst/>
          </a:prstGeom>
          <a:noFill/>
          <a:ln/>
        </p:spPr>
        <p:txBody>
          <a:bodyPr wrap="square" lIns="0" tIns="0" rIns="0" bIns="0" rtlCol="0" anchor="ctr"/>
          <a:lstStyle/>
          <a:p>
            <a:pPr indent="0" marL="0">
              <a:buNone/>
            </a:pPr>
            <a:r>
              <a:rPr lang="en-US" sz="2000" spc="200" kern="0" dirty="0">
                <a:solidFill>
                  <a:srgbClr val="111111"/>
                </a:solidFill>
                <a:latin typeface="Bahnschrift SemiBold Condensed" pitchFamily="34" charset="0"/>
                <a:ea typeface="Bahnschrift SemiBold Condensed" pitchFamily="34" charset="-122"/>
                <a:cs typeface="Bahnschrift SemiBold Condensed" pitchFamily="34" charset="-120"/>
              </a:rPr>
              <a:t>03 THE CUT</a:t>
            </a:r>
            <a:endParaRPr lang="en-US" sz="2000" dirty="0"/>
          </a:p>
        </p:txBody>
      </p:sp>
      <p:sp>
        <p:nvSpPr>
          <p:cNvPr id="14" name="Text 9"/>
          <p:cNvSpPr txBox="1"/>
          <p:nvPr/>
        </p:nvSpPr>
        <p:spPr>
          <a:xfrm>
            <a:off x="6255868" y="5230368"/>
            <a:ext cx="2442134" cy="64008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Half the body, gone.</a:t>
            </a:r>
            <a:endParaRPr lang="en-US" sz="1500" dirty="0"/>
          </a:p>
        </p:txBody>
      </p:sp>
      <p:pic>
        <p:nvPicPr>
          <p:cNvPr id="15" name="heal_4_plus250.png" descr="heal 4 plus250 png">    </p:cNvPr>
          <p:cNvPicPr>
            <a:picLocks noChangeAspect="1"/>
          </p:cNvPicPr>
          <p:nvPr/>
        </p:nvPicPr>
        <p:blipFill>
          <a:blip r:embed="rId5"/>
          <a:stretch>
            <a:fillRect/>
          </a:stretch>
        </p:blipFill>
        <p:spPr>
          <a:xfrm>
            <a:off x="8867508" y="1783080"/>
            <a:ext cx="2743200" cy="2743200"/>
          </a:xfrm>
          <a:prstGeom prst="rect">
            <a:avLst/>
          </a:prstGeom>
        </p:spPr>
      </p:pic>
      <p:sp>
        <p:nvSpPr>
          <p:cNvPr id="16" name="Shape 10"/>
          <p:cNvSpPr/>
          <p:nvPr/>
        </p:nvSpPr>
        <p:spPr>
          <a:xfrm>
            <a:off x="9018041" y="4754880"/>
            <a:ext cx="2442134" cy="0"/>
          </a:xfrm>
          <a:prstGeom prst="line">
            <a:avLst/>
          </a:prstGeom>
          <a:noFill/>
          <a:ln w="25400">
            <a:solidFill>
              <a:srgbClr val="111111"/>
            </a:solidFill>
            <a:prstDash val="solid"/>
          </a:ln>
        </p:spPr>
      </p:sp>
      <p:sp>
        <p:nvSpPr>
          <p:cNvPr id="17" name="Text 11"/>
          <p:cNvSpPr txBox="1"/>
          <p:nvPr/>
        </p:nvSpPr>
        <p:spPr>
          <a:xfrm>
            <a:off x="9018041" y="4864608"/>
            <a:ext cx="2442134" cy="320040"/>
          </a:xfrm>
          <a:prstGeom prst="rect">
            <a:avLst/>
          </a:prstGeom>
          <a:noFill/>
          <a:ln/>
        </p:spPr>
        <p:txBody>
          <a:bodyPr wrap="square" lIns="0" tIns="0" rIns="0" bIns="0" rtlCol="0" anchor="ctr"/>
          <a:lstStyle/>
          <a:p>
            <a:pPr indent="0" marL="0">
              <a:buNone/>
            </a:pPr>
            <a:r>
              <a:rPr lang="en-US" sz="2000" spc="200" kern="0" dirty="0">
                <a:solidFill>
                  <a:srgbClr val="111111"/>
                </a:solidFill>
                <a:latin typeface="Bahnschrift SemiBold Condensed" pitchFamily="34" charset="0"/>
                <a:ea typeface="Bahnschrift SemiBold Condensed" pitchFamily="34" charset="-122"/>
                <a:cs typeface="Bahnschrift SemiBold Condensed" pitchFamily="34" charset="-120"/>
              </a:rPr>
              <a:t>04 HEALED</a:t>
            </a:r>
            <a:endParaRPr lang="en-US" sz="2000" dirty="0"/>
          </a:p>
        </p:txBody>
      </p:sp>
      <p:sp>
        <p:nvSpPr>
          <p:cNvPr id="18" name="Text 12"/>
          <p:cNvSpPr txBox="1"/>
          <p:nvPr/>
        </p:nvSpPr>
        <p:spPr>
          <a:xfrm>
            <a:off x="9018041" y="5230368"/>
            <a:ext cx="2442134" cy="64008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The survivors rebuild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463040" y="914400"/>
            <a:ext cx="3291840" cy="4206240"/>
          </a:xfrm>
          <a:prstGeom prst="rect">
            <a:avLst/>
          </a:prstGeom>
          <a:noFill/>
          <a:ln/>
        </p:spPr>
        <p:txBody>
          <a:bodyPr wrap="square" lIns="0" tIns="0" rIns="0" bIns="0" rtlCol="0" anchor="ctr"/>
          <a:lstStyle/>
          <a:p>
            <a:pPr algn="r" indent="0" marL="0">
              <a:buNone/>
            </a:pPr>
            <a:r>
              <a:rPr lang="en-US" sz="25000" dirty="0">
                <a:ln w="31750">
                  <a:solidFill>
                    <a:srgbClr val="111111"/>
                  </a:solidFill>
                </a:ln>
                <a:solidFill>
                  <a:srgbClr val="F6F0E2"/>
                </a:solidFill>
                <a:latin typeface="Bahnschrift SemiBold Condensed" pitchFamily="34" charset="0"/>
                <a:ea typeface="Bahnschrift SemiBold Condensed" pitchFamily="34" charset="-122"/>
                <a:cs typeface="Bahnschrift SemiBold Condensed" pitchFamily="34" charset="-120"/>
              </a:rPr>
              <a:t>01</a:t>
            </a:r>
            <a:endParaRPr lang="en-US" sz="25000" dirty="0"/>
          </a:p>
        </p:txBody>
      </p:sp>
      <p:sp>
        <p:nvSpPr>
          <p:cNvPr id="3" name="Title"/>
          <p:cNvSpPr txBox="1"/>
          <p:nvPr/>
        </p:nvSpPr>
        <p:spPr>
          <a:xfrm>
            <a:off x="4937760" y="2240280"/>
            <a:ext cx="5029200" cy="1280160"/>
          </a:xfrm>
          <a:prstGeom prst="rect">
            <a:avLst/>
          </a:prstGeom>
          <a:noFill/>
          <a:ln/>
        </p:spPr>
        <p:txBody>
          <a:bodyPr wrap="square" lIns="0" tIns="0" rIns="0" bIns="0" rtlCol="0" anchor="t"/>
          <a:lstStyle/>
          <a:p>
            <a:pPr indent="0" marL="0">
              <a:buNone/>
            </a:pPr>
            <a:r>
              <a:rPr lang="en-US" sz="4400" spc="200" kern="0" dirty="0">
                <a:solidFill>
                  <a:srgbClr val="111111"/>
                </a:solidFill>
                <a:latin typeface="Bahnschrift SemiBold Condensed" pitchFamily="34" charset="0"/>
                <a:ea typeface="Bahnschrift SemiBold Condensed" pitchFamily="34" charset="-122"/>
                <a:cs typeface="Bahnschrift SemiBold Condensed" pitchFamily="34" charset="-120"/>
              </a:rPr>
              <a:t>NOBODY DRAWS</a:t>
            </a:r>
            <a:endParaRPr lang="en-US" sz="4400" dirty="0"/>
          </a:p>
          <a:p>
            <a:pPr indent="0" marL="0">
              <a:buNone/>
            </a:pPr>
            <a:r>
              <a:rPr lang="en-US" sz="44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LIZARD</a:t>
            </a:r>
            <a:endParaRPr lang="en-US" sz="4400" dirty="0"/>
          </a:p>
        </p:txBody>
      </p:sp>
      <p:sp>
        <p:nvSpPr>
          <p:cNvPr id="4" name="Text 2"/>
          <p:cNvSpPr txBox="1"/>
          <p:nvPr/>
        </p:nvSpPr>
        <p:spPr>
          <a:xfrm>
            <a:off x="4937760" y="3611880"/>
            <a:ext cx="4572000" cy="45720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What a single cell can and can't see.</a:t>
            </a:r>
            <a:endParaRPr lang="en-US" sz="1800" dirty="0"/>
          </a:p>
        </p:txBody>
      </p:sp>
      <p:pic>
        <p:nvPicPr>
          <p:cNvPr id="5" name="heal_1_cut.png" descr="heal 1 cut png">    </p:cNvPr>
          <p:cNvPicPr>
            <a:picLocks noChangeAspect="1"/>
          </p:cNvPicPr>
          <p:nvPr/>
        </p:nvPicPr>
        <p:blipFill>
          <a:blip r:embed="rId2"/>
          <a:stretch>
            <a:fillRect/>
          </a:stretch>
        </p:blipFill>
        <p:spPr>
          <a:xfrm>
            <a:off x="9326880" y="2651760"/>
            <a:ext cx="3657600" cy="3657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914400" y="914400"/>
            <a:ext cx="10362895" cy="3566160"/>
          </a:xfrm>
          <a:prstGeom prst="rect">
            <a:avLst/>
          </a:prstGeom>
          <a:noFill/>
          <a:ln/>
        </p:spPr>
        <p:txBody>
          <a:bodyPr wrap="square" lIns="0" tIns="0" rIns="0" bIns="0" rtlCol="0" anchor="ctr"/>
          <a:lstStyle/>
          <a:p>
            <a:pPr algn="ctr" indent="0" marL="0">
              <a:lnSpc>
                <a:spcPct val="95000"/>
              </a:lnSpc>
              <a:buNone/>
            </a:pPr>
            <a:r>
              <a:rPr lang="en-US" sz="7200" spc="200" kern="0" dirty="0">
                <a:solidFill>
                  <a:srgbClr val="111111"/>
                </a:solidFill>
                <a:latin typeface="Bahnschrift SemiBold Condensed" pitchFamily="34" charset="0"/>
                <a:ea typeface="Bahnschrift SemiBold Condensed" pitchFamily="34" charset="-122"/>
                <a:cs typeface="Bahnschrift SemiBold Condensed" pitchFamily="34" charset="-120"/>
              </a:rPr>
              <a:t>NO PIXEL KNOWS</a:t>
            </a:r>
            <a:endParaRPr lang="en-US" sz="7200" dirty="0"/>
          </a:p>
          <a:p>
            <a:pPr algn="ctr" indent="0" marL="0">
              <a:lnSpc>
                <a:spcPct val="95000"/>
              </a:lnSpc>
              <a:buNone/>
            </a:pPr>
            <a:r>
              <a:rPr lang="en-US" sz="7200" spc="200" kern="0" dirty="0">
                <a:solidFill>
                  <a:srgbClr val="111111"/>
                </a:solidFill>
                <a:latin typeface="Bahnschrift SemiBold Condensed" pitchFamily="34" charset="0"/>
                <a:ea typeface="Bahnschrift SemiBold Condensed" pitchFamily="34" charset="-122"/>
                <a:cs typeface="Bahnschrift SemiBold Condensed" pitchFamily="34" charset="-120"/>
              </a:rPr>
              <a:t>WHAT A LIZARD</a:t>
            </a:r>
            <a:endParaRPr lang="en-US" sz="7200" dirty="0"/>
          </a:p>
          <a:p>
            <a:pPr algn="ctr" indent="0" marL="0">
              <a:lnSpc>
                <a:spcPct val="95000"/>
              </a:lnSpc>
              <a:buNone/>
            </a:pPr>
            <a:r>
              <a:rPr lang="en-US" sz="7200" spc="200" kern="0" dirty="0">
                <a:solidFill>
                  <a:srgbClr val="111111"/>
                </a:solidFill>
                <a:latin typeface="Bahnschrift SemiBold Condensed" pitchFamily="34" charset="0"/>
                <a:ea typeface="Bahnschrift SemiBold Condensed" pitchFamily="34" charset="-122"/>
                <a:cs typeface="Bahnschrift SemiBold Condensed" pitchFamily="34" charset="-120"/>
              </a:rPr>
              <a:t>LOOKS LIKE.</a:t>
            </a:r>
            <a:endParaRPr lang="en-US" sz="7200" dirty="0"/>
          </a:p>
        </p:txBody>
      </p:sp>
      <p:pic>
        <p:nvPicPr>
          <p:cNvPr id="3" name="grow_1_step15.png" descr="grow 1 step15 png">    </p:cNvPr>
          <p:cNvPicPr>
            <a:picLocks noChangeAspect="1"/>
          </p:cNvPicPr>
          <p:nvPr/>
        </p:nvPicPr>
        <p:blipFill>
          <a:blip r:embed="rId2"/>
          <a:stretch>
            <a:fillRect/>
          </a:stretch>
        </p:blipFill>
        <p:spPr>
          <a:xfrm>
            <a:off x="3840480" y="4892040"/>
            <a:ext cx="640080" cy="640080"/>
          </a:xfrm>
          <a:prstGeom prst="rect">
            <a:avLst/>
          </a:prstGeom>
        </p:spPr>
      </p:pic>
      <p:sp>
        <p:nvSpPr>
          <p:cNvPr id="4" name="Text 1"/>
          <p:cNvSpPr txBox="1"/>
          <p:nvPr/>
        </p:nvSpPr>
        <p:spPr>
          <a:xfrm>
            <a:off x="4617720" y="5120640"/>
            <a:ext cx="4572000" cy="32004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EACH ONE ONLY SEES ITS 8 NEIGHBOURS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WHAT EACH CELL HAS</a:t>
            </a:r>
            <a:endParaRPr lang="en-US" sz="4000" dirty="0"/>
          </a:p>
        </p:txBody>
      </p:sp>
      <p:pic>
        <p:nvPicPr>
          <p:cNvPr id="3" name="neighbourhood_3x3.png" descr="neighbourhood 3x3 png">    </p:cNvPr>
          <p:cNvPicPr>
            <a:picLocks noChangeAspect="1"/>
          </p:cNvPicPr>
          <p:nvPr/>
        </p:nvPicPr>
        <p:blipFill>
          <a:blip r:embed="rId2"/>
          <a:stretch>
            <a:fillRect/>
          </a:stretch>
        </p:blipFill>
        <p:spPr>
          <a:xfrm>
            <a:off x="1340968" y="1554480"/>
            <a:ext cx="2194560" cy="2194560"/>
          </a:xfrm>
          <a:prstGeom prst="rect">
            <a:avLst/>
          </a:prstGeom>
        </p:spPr>
      </p:pic>
      <p:sp>
        <p:nvSpPr>
          <p:cNvPr id="4" name="Text 1"/>
          <p:cNvSpPr txBox="1"/>
          <p:nvPr/>
        </p:nvSpPr>
        <p:spPr>
          <a:xfrm>
            <a:off x="883768" y="4114800"/>
            <a:ext cx="3108960" cy="365760"/>
          </a:xfrm>
          <a:prstGeom prst="rect">
            <a:avLst/>
          </a:prstGeom>
          <a:noFill/>
          <a:ln/>
        </p:spPr>
        <p:txBody>
          <a:bodyPr wrap="square" lIns="0" tIns="0" rIns="0" bIns="0" rtlCol="0" anchor="ctr"/>
          <a:lstStyle/>
          <a:p>
            <a:pPr algn="ct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IT SEES 8 NEIGHBOURS</a:t>
            </a:r>
            <a:endParaRPr lang="en-US" sz="2200" dirty="0"/>
          </a:p>
        </p:txBody>
      </p:sp>
      <p:sp>
        <p:nvSpPr>
          <p:cNvPr id="5" name="Text 2"/>
          <p:cNvSpPr txBox="1"/>
          <p:nvPr/>
        </p:nvSpPr>
        <p:spPr>
          <a:xfrm>
            <a:off x="883768" y="4572000"/>
            <a:ext cx="3108960" cy="731520"/>
          </a:xfrm>
          <a:prstGeom prst="rect">
            <a:avLst/>
          </a:prstGeom>
          <a:noFill/>
          <a:ln/>
        </p:spPr>
        <p:txBody>
          <a:bodyPr wrap="square" lIns="0" tIns="0" rIns="0" bIns="0" rtlCol="0" anchor="t"/>
          <a:lstStyle/>
          <a:p>
            <a:pPr algn="ctr" indent="0" marL="0">
              <a:buNone/>
            </a:pPr>
            <a:r>
              <a:rPr lang="en-US" sz="1600" dirty="0">
                <a:solidFill>
                  <a:srgbClr val="111111"/>
                </a:solidFill>
                <a:latin typeface="Calibri" pitchFamily="34" charset="0"/>
                <a:ea typeface="Calibri" pitchFamily="34" charset="-122"/>
                <a:cs typeface="Calibri" pitchFamily="34" charset="-120"/>
              </a:rPr>
              <a:t>Only the 3 × 3 square around it. Nothing further.</a:t>
            </a:r>
            <a:endParaRPr lang="en-US" sz="1600" dirty="0"/>
          </a:p>
        </p:txBody>
      </p:sp>
      <p:pic>
        <p:nvPicPr>
          <p:cNvPr id="6" name="channel_06.png" descr="channel 06 png">    </p:cNvPr>
          <p:cNvPicPr>
            <a:picLocks noChangeAspect="1"/>
          </p:cNvPicPr>
          <p:nvPr/>
        </p:nvPicPr>
        <p:blipFill>
          <a:blip r:embed="rId3"/>
          <a:stretch>
            <a:fillRect/>
          </a:stretch>
        </p:blipFill>
        <p:spPr>
          <a:xfrm>
            <a:off x="4998568" y="1554480"/>
            <a:ext cx="2194560" cy="2194560"/>
          </a:xfrm>
          <a:prstGeom prst="rect">
            <a:avLst/>
          </a:prstGeom>
        </p:spPr>
      </p:pic>
      <p:sp>
        <p:nvSpPr>
          <p:cNvPr id="7" name="Text 3"/>
          <p:cNvSpPr txBox="1"/>
          <p:nvPr/>
        </p:nvSpPr>
        <p:spPr>
          <a:xfrm>
            <a:off x="4541368" y="4114800"/>
            <a:ext cx="3108960" cy="365760"/>
          </a:xfrm>
          <a:prstGeom prst="rect">
            <a:avLst/>
          </a:prstGeom>
          <a:noFill/>
          <a:ln/>
        </p:spPr>
        <p:txBody>
          <a:bodyPr wrap="square" lIns="0" tIns="0" rIns="0" bIns="0" rtlCol="0" anchor="ctr"/>
          <a:lstStyle/>
          <a:p>
            <a:pPr algn="ct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IT CARRIES 16 NUMBERS</a:t>
            </a:r>
            <a:endParaRPr lang="en-US" sz="2200" dirty="0"/>
          </a:p>
        </p:txBody>
      </p:sp>
      <p:sp>
        <p:nvSpPr>
          <p:cNvPr id="8" name="Text 4"/>
          <p:cNvSpPr txBox="1"/>
          <p:nvPr/>
        </p:nvSpPr>
        <p:spPr>
          <a:xfrm>
            <a:off x="4541368" y="4572000"/>
            <a:ext cx="3108960" cy="731520"/>
          </a:xfrm>
          <a:prstGeom prst="rect">
            <a:avLst/>
          </a:prstGeom>
          <a:noFill/>
          <a:ln/>
        </p:spPr>
        <p:txBody>
          <a:bodyPr wrap="square" lIns="0" tIns="0" rIns="0" bIns="0" rtlCol="0" anchor="t"/>
          <a:lstStyle/>
          <a:p>
            <a:pPr algn="ctr" indent="0" marL="0">
              <a:buNone/>
            </a:pPr>
            <a:r>
              <a:rPr lang="en-US" sz="1600" dirty="0">
                <a:solidFill>
                  <a:srgbClr val="111111"/>
                </a:solidFill>
                <a:latin typeface="Calibri" pitchFamily="34" charset="0"/>
                <a:ea typeface="Calibri" pitchFamily="34" charset="-122"/>
                <a:cs typeface="Calibri" pitchFamily="34" charset="-120"/>
              </a:rPr>
              <a:t>Colour, how alive it is, and 12 hidden signals.</a:t>
            </a:r>
            <a:endParaRPr lang="en-US" sz="1600" dirty="0"/>
          </a:p>
        </p:txBody>
      </p:sp>
      <p:pic>
        <p:nvPicPr>
          <p:cNvPr id="9" name="lizard_grown.png" descr="lizard grown png">    </p:cNvPr>
          <p:cNvPicPr>
            <a:picLocks noChangeAspect="1"/>
          </p:cNvPicPr>
          <p:nvPr/>
        </p:nvPicPr>
        <p:blipFill>
          <a:blip r:embed="rId4"/>
          <a:stretch>
            <a:fillRect/>
          </a:stretch>
        </p:blipFill>
        <p:spPr>
          <a:xfrm>
            <a:off x="8656168" y="1554480"/>
            <a:ext cx="2194560" cy="2194560"/>
          </a:xfrm>
          <a:prstGeom prst="rect">
            <a:avLst/>
          </a:prstGeom>
        </p:spPr>
      </p:pic>
      <p:sp>
        <p:nvSpPr>
          <p:cNvPr id="10" name="Text 5"/>
          <p:cNvSpPr txBox="1"/>
          <p:nvPr/>
        </p:nvSpPr>
        <p:spPr>
          <a:xfrm>
            <a:off x="8198968" y="4114800"/>
            <a:ext cx="3108960" cy="365760"/>
          </a:xfrm>
          <a:prstGeom prst="rect">
            <a:avLst/>
          </a:prstGeom>
          <a:noFill/>
          <a:ln/>
        </p:spPr>
        <p:txBody>
          <a:bodyPr wrap="square" lIns="0" tIns="0" rIns="0" bIns="0" rtlCol="0" anchor="ctr"/>
          <a:lstStyle/>
          <a:p>
            <a:pPr algn="ct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IT FOLLOWS ONE RULE</a:t>
            </a:r>
            <a:endParaRPr lang="en-US" sz="2200" dirty="0"/>
          </a:p>
        </p:txBody>
      </p:sp>
      <p:sp>
        <p:nvSpPr>
          <p:cNvPr id="11" name="Text 6"/>
          <p:cNvSpPr txBox="1"/>
          <p:nvPr/>
        </p:nvSpPr>
        <p:spPr>
          <a:xfrm>
            <a:off x="8198968" y="4572000"/>
            <a:ext cx="3108960" cy="731520"/>
          </a:xfrm>
          <a:prstGeom prst="rect">
            <a:avLst/>
          </a:prstGeom>
          <a:noFill/>
          <a:ln/>
        </p:spPr>
        <p:txBody>
          <a:bodyPr wrap="square" lIns="0" tIns="0" rIns="0" bIns="0" rtlCol="0" anchor="t"/>
          <a:lstStyle/>
          <a:p>
            <a:pPr algn="ctr" indent="0" marL="0">
              <a:buNone/>
            </a:pPr>
            <a:r>
              <a:rPr lang="en-US" sz="1600" dirty="0">
                <a:solidFill>
                  <a:srgbClr val="111111"/>
                </a:solidFill>
                <a:latin typeface="Calibri" pitchFamily="34" charset="0"/>
                <a:ea typeface="Calibri" pitchFamily="34" charset="-122"/>
                <a:cs typeface="Calibri" pitchFamily="34" charset="-120"/>
              </a:rPr>
              <a:t>The same tiny network runs in every cell.</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1280160"/>
            <a:ext cx="6766560" cy="3840480"/>
          </a:xfrm>
          <a:prstGeom prst="rect">
            <a:avLst/>
          </a:prstGeom>
          <a:noFill/>
          <a:ln/>
        </p:spPr>
        <p:txBody>
          <a:bodyPr wrap="square" lIns="0" tIns="0" rIns="0" bIns="0" rtlCol="0" anchor="ctr"/>
          <a:lstStyle/>
          <a:p>
            <a:pPr algn="ctr" indent="0" marL="0">
              <a:buNone/>
            </a:pPr>
            <a:r>
              <a:rPr lang="en-US" sz="20000" dirty="0">
                <a:ln w="31750">
                  <a:solidFill>
                    <a:srgbClr val="111111"/>
                  </a:solidFill>
                </a:ln>
                <a:solidFill>
                  <a:srgbClr val="F6F0E2"/>
                </a:solidFill>
                <a:latin typeface="Bahnschrift SemiBold Condensed" pitchFamily="34" charset="0"/>
                <a:ea typeface="Bahnschrift SemiBold Condensed" pitchFamily="34" charset="-122"/>
                <a:cs typeface="Bahnschrift SemiBold Condensed" pitchFamily="34" charset="-120"/>
              </a:rPr>
              <a:t>8,320</a:t>
            </a:r>
            <a:endParaRPr lang="en-US" sz="20000" dirty="0"/>
          </a:p>
        </p:txBody>
      </p:sp>
      <p:sp>
        <p:nvSpPr>
          <p:cNvPr id="3" name="Title"/>
          <p:cNvSpPr txBox="1"/>
          <p:nvPr/>
        </p:nvSpPr>
        <p:spPr>
          <a:xfrm>
            <a:off x="7498080" y="2514600"/>
            <a:ext cx="3931920" cy="411480"/>
          </a:xfrm>
          <a:prstGeom prst="rect">
            <a:avLst/>
          </a:prstGeom>
          <a:noFill/>
          <a:ln/>
        </p:spPr>
        <p:txBody>
          <a:bodyPr wrap="square" lIns="0" tIns="0" rIns="0" bIns="0" rtlCol="0" anchor="ctr"/>
          <a:lstStyle/>
          <a:p>
            <a:pPr indent="0" marL="0">
              <a:buNone/>
            </a:pPr>
            <a:r>
              <a:rPr lang="en-US" sz="2600" spc="300" kern="0" dirty="0">
                <a:solidFill>
                  <a:srgbClr val="111111"/>
                </a:solidFill>
                <a:latin typeface="Bahnschrift SemiBold Condensed" pitchFamily="34" charset="0"/>
                <a:ea typeface="Bahnschrift SemiBold Condensed" pitchFamily="34" charset="-122"/>
                <a:cs typeface="Bahnschrift SemiBold Condensed" pitchFamily="34" charset="-120"/>
              </a:rPr>
              <a:t>THE WHOLE BRAIN</a:t>
            </a:r>
            <a:endParaRPr lang="en-US" sz="2600" dirty="0"/>
          </a:p>
        </p:txBody>
      </p:sp>
      <p:sp>
        <p:nvSpPr>
          <p:cNvPr id="4" name="Text 2"/>
          <p:cNvSpPr txBox="1"/>
          <p:nvPr/>
        </p:nvSpPr>
        <p:spPr>
          <a:xfrm>
            <a:off x="7498080" y="3063240"/>
            <a:ext cx="3931920" cy="146304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That's every number in the rule. One copy, shared by every cell. No map of the lizard is stored anywhere.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0" y="548640"/>
            <a:ext cx="12191695" cy="3474720"/>
          </a:xfrm>
          <a:prstGeom prst="rect">
            <a:avLst/>
          </a:prstGeom>
          <a:noFill/>
          <a:ln/>
        </p:spPr>
        <p:txBody>
          <a:bodyPr wrap="square" lIns="0" tIns="0" rIns="0" bIns="0" rtlCol="0" anchor="ctr"/>
          <a:lstStyle/>
          <a:p>
            <a:pPr algn="ctr" indent="0" marL="0">
              <a:buNone/>
            </a:pPr>
            <a:r>
              <a:rPr lang="en-US" sz="23000" dirty="0">
                <a:ln w="31750">
                  <a:solidFill>
                    <a:srgbClr val="111111"/>
                  </a:solidFill>
                </a:ln>
                <a:solidFill>
                  <a:srgbClr val="F6F0E2"/>
                </a:solidFill>
                <a:latin typeface="Bahnschrift SemiBold Condensed" pitchFamily="34" charset="0"/>
                <a:ea typeface="Bahnschrift SemiBold Condensed" pitchFamily="34" charset="-122"/>
                <a:cs typeface="Bahnschrift SemiBold Condensed" pitchFamily="34" charset="-120"/>
              </a:rPr>
              <a:t>02</a:t>
            </a:r>
            <a:endParaRPr lang="en-US" sz="23000" dirty="0"/>
          </a:p>
        </p:txBody>
      </p:sp>
      <p:sp>
        <p:nvSpPr>
          <p:cNvPr id="3" name="Title"/>
          <p:cNvSpPr txBox="1"/>
          <p:nvPr/>
        </p:nvSpPr>
        <p:spPr>
          <a:xfrm>
            <a:off x="0" y="4160520"/>
            <a:ext cx="12191695" cy="640080"/>
          </a:xfrm>
          <a:prstGeom prst="rect">
            <a:avLst/>
          </a:prstGeom>
          <a:noFill/>
          <a:ln/>
        </p:spPr>
        <p:txBody>
          <a:bodyPr wrap="square" lIns="0" tIns="0" rIns="0" bIns="0" rtlCol="0" anchor="ctr"/>
          <a:lstStyle/>
          <a:p>
            <a:pPr algn="ctr" indent="0" marL="0">
              <a:buNone/>
            </a:pPr>
            <a:r>
              <a:rPr lang="en-US" sz="4000" spc="300" kern="0" dirty="0">
                <a:solidFill>
                  <a:srgbClr val="111111"/>
                </a:solidFill>
                <a:latin typeface="Bahnschrift SemiBold Condensed" pitchFamily="34" charset="0"/>
                <a:ea typeface="Bahnschrift SemiBold Condensed" pitchFamily="34" charset="-122"/>
                <a:cs typeface="Bahnschrift SemiBold Condensed" pitchFamily="34" charset="-120"/>
              </a:rPr>
              <a:t>HOW ONE STEP WORKS</a:t>
            </a:r>
            <a:endParaRPr lang="en-US" sz="4000" dirty="0"/>
          </a:p>
        </p:txBody>
      </p:sp>
      <p:pic>
        <p:nvPicPr>
          <p:cNvPr id="4" name="grow_1_step15.png" descr="grow 1 step15 png">    </p:cNvPr>
          <p:cNvPicPr>
            <a:picLocks noChangeAspect="1"/>
          </p:cNvPicPr>
          <p:nvPr/>
        </p:nvPicPr>
        <p:blipFill>
          <a:blip r:embed="rId2"/>
          <a:stretch>
            <a:fillRect/>
          </a:stretch>
        </p:blipFill>
        <p:spPr>
          <a:xfrm>
            <a:off x="3566160" y="4983480"/>
            <a:ext cx="502920" cy="502920"/>
          </a:xfrm>
          <a:prstGeom prst="rect">
            <a:avLst/>
          </a:prstGeom>
        </p:spPr>
      </p:pic>
      <p:sp>
        <p:nvSpPr>
          <p:cNvPr id="5" name="Text 2"/>
          <p:cNvSpPr txBox="1"/>
          <p:nvPr/>
        </p:nvSpPr>
        <p:spPr>
          <a:xfrm>
            <a:off x="4206240" y="5074920"/>
            <a:ext cx="5029200" cy="36576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Repeated for every cell, 60 times a second.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ONE UPDATE STEP</a:t>
            </a:r>
            <a:endParaRPr lang="en-US" sz="4000" dirty="0"/>
          </a:p>
        </p:txBody>
      </p:sp>
      <p:sp>
        <p:nvSpPr>
          <p:cNvPr id="3" name="Step 1"/>
          <p:cNvSpPr/>
          <p:nvPr/>
        </p:nvSpPr>
        <p:spPr>
          <a:xfrm>
            <a:off x="731520" y="4297680"/>
            <a:ext cx="2531288" cy="1828800"/>
          </a:xfrm>
          <a:prstGeom prst="rect">
            <a:avLst/>
          </a:prstGeom>
          <a:solidFill>
            <a:srgbClr val="F6F0E2"/>
          </a:solidFill>
          <a:ln w="12700">
            <a:solidFill>
              <a:srgbClr val="F6F0E2"/>
            </a:solidFill>
            <a:prstDash val="solid"/>
          </a:ln>
        </p:spPr>
      </p:sp>
      <p:sp>
        <p:nvSpPr>
          <p:cNvPr id="4" name="Text 2"/>
          <p:cNvSpPr txBox="1"/>
          <p:nvPr/>
        </p:nvSpPr>
        <p:spPr>
          <a:xfrm>
            <a:off x="932688" y="4498848"/>
            <a:ext cx="2128952" cy="365760"/>
          </a:xfrm>
          <a:prstGeom prst="rect">
            <a:avLst/>
          </a:prstGeom>
          <a:noFill/>
          <a:ln/>
        </p:spPr>
        <p:txBody>
          <a:bodyPr wrap="square" lIns="0" tIns="0" rIns="0" bIns="0" rtlCol="0" anchor="ctr"/>
          <a:lstStyle/>
          <a:p>
            <a:pP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01 LOOK</a:t>
            </a:r>
            <a:endParaRPr lang="en-US" sz="2200" dirty="0"/>
          </a:p>
        </p:txBody>
      </p:sp>
      <p:sp>
        <p:nvSpPr>
          <p:cNvPr id="5" name="Text 3"/>
          <p:cNvSpPr txBox="1"/>
          <p:nvPr/>
        </p:nvSpPr>
        <p:spPr>
          <a:xfrm>
            <a:off x="932688" y="4937760"/>
            <a:ext cx="2128952" cy="91440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Read the 3 × 3 square. 48 numbers.</a:t>
            </a:r>
            <a:endParaRPr lang="en-US" sz="1500" dirty="0"/>
          </a:p>
        </p:txBody>
      </p:sp>
      <p:sp>
        <p:nvSpPr>
          <p:cNvPr id="6" name="Step 2"/>
          <p:cNvSpPr/>
          <p:nvPr/>
        </p:nvSpPr>
        <p:spPr>
          <a:xfrm>
            <a:off x="3463976" y="3429000"/>
            <a:ext cx="2531288" cy="2697480"/>
          </a:xfrm>
          <a:prstGeom prst="rect">
            <a:avLst/>
          </a:prstGeom>
          <a:solidFill>
            <a:srgbClr val="F6F0E2"/>
          </a:solidFill>
          <a:ln w="12700">
            <a:solidFill>
              <a:srgbClr val="F6F0E2"/>
            </a:solidFill>
            <a:prstDash val="solid"/>
          </a:ln>
        </p:spPr>
      </p:sp>
      <p:sp>
        <p:nvSpPr>
          <p:cNvPr id="7" name="Text 5"/>
          <p:cNvSpPr txBox="1"/>
          <p:nvPr/>
        </p:nvSpPr>
        <p:spPr>
          <a:xfrm>
            <a:off x="3665144" y="3630168"/>
            <a:ext cx="2128952" cy="365760"/>
          </a:xfrm>
          <a:prstGeom prst="rect">
            <a:avLst/>
          </a:prstGeom>
          <a:noFill/>
          <a:ln/>
        </p:spPr>
        <p:txBody>
          <a:bodyPr wrap="square" lIns="0" tIns="0" rIns="0" bIns="0" rtlCol="0" anchor="ctr"/>
          <a:lstStyle/>
          <a:p>
            <a:pP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02 THINK</a:t>
            </a:r>
            <a:endParaRPr lang="en-US" sz="2200" dirty="0"/>
          </a:p>
        </p:txBody>
      </p:sp>
      <p:sp>
        <p:nvSpPr>
          <p:cNvPr id="8" name="Text 6"/>
          <p:cNvSpPr txBox="1"/>
          <p:nvPr/>
        </p:nvSpPr>
        <p:spPr>
          <a:xfrm>
            <a:off x="3665144" y="4069080"/>
            <a:ext cx="2128952" cy="91440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 small neural network: 48 → 128 → 16.</a:t>
            </a:r>
            <a:endParaRPr lang="en-US" sz="1500" dirty="0"/>
          </a:p>
        </p:txBody>
      </p:sp>
      <p:sp>
        <p:nvSpPr>
          <p:cNvPr id="9" name="Step 3"/>
          <p:cNvSpPr/>
          <p:nvPr/>
        </p:nvSpPr>
        <p:spPr>
          <a:xfrm>
            <a:off x="6196432" y="2560320"/>
            <a:ext cx="2531288" cy="3566160"/>
          </a:xfrm>
          <a:prstGeom prst="rect">
            <a:avLst/>
          </a:prstGeom>
          <a:solidFill>
            <a:srgbClr val="F6F0E2"/>
          </a:solidFill>
          <a:ln w="12700">
            <a:solidFill>
              <a:srgbClr val="F6F0E2"/>
            </a:solidFill>
            <a:prstDash val="solid"/>
          </a:ln>
        </p:spPr>
      </p:sp>
      <p:sp>
        <p:nvSpPr>
          <p:cNvPr id="10" name="Text 8"/>
          <p:cNvSpPr txBox="1"/>
          <p:nvPr/>
        </p:nvSpPr>
        <p:spPr>
          <a:xfrm>
            <a:off x="6397600" y="2761488"/>
            <a:ext cx="2128952" cy="365760"/>
          </a:xfrm>
          <a:prstGeom prst="rect">
            <a:avLst/>
          </a:prstGeom>
          <a:noFill/>
          <a:ln/>
        </p:spPr>
        <p:txBody>
          <a:bodyPr wrap="square" lIns="0" tIns="0" rIns="0" bIns="0" rtlCol="0" anchor="ctr"/>
          <a:lstStyle/>
          <a:p>
            <a:pP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03 ACT</a:t>
            </a:r>
            <a:endParaRPr lang="en-US" sz="2200" dirty="0"/>
          </a:p>
        </p:txBody>
      </p:sp>
      <p:sp>
        <p:nvSpPr>
          <p:cNvPr id="11" name="Text 9"/>
          <p:cNvSpPr txBox="1"/>
          <p:nvPr/>
        </p:nvSpPr>
        <p:spPr>
          <a:xfrm>
            <a:off x="6397600" y="3200400"/>
            <a:ext cx="2128952" cy="91440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Add the changes. Only half the cells, at random.</a:t>
            </a:r>
            <a:endParaRPr lang="en-US" sz="1500" dirty="0"/>
          </a:p>
        </p:txBody>
      </p:sp>
      <p:sp>
        <p:nvSpPr>
          <p:cNvPr id="12" name="Step 4"/>
          <p:cNvSpPr/>
          <p:nvPr/>
        </p:nvSpPr>
        <p:spPr>
          <a:xfrm>
            <a:off x="8928887" y="1691640"/>
            <a:ext cx="2531288" cy="4434840"/>
          </a:xfrm>
          <a:prstGeom prst="rect">
            <a:avLst/>
          </a:prstGeom>
          <a:solidFill>
            <a:srgbClr val="F6F0E2"/>
          </a:solidFill>
          <a:ln w="12700">
            <a:solidFill>
              <a:srgbClr val="F6F0E2"/>
            </a:solidFill>
            <a:prstDash val="solid"/>
          </a:ln>
        </p:spPr>
      </p:sp>
      <p:sp>
        <p:nvSpPr>
          <p:cNvPr id="13" name="Text 11"/>
          <p:cNvSpPr txBox="1"/>
          <p:nvPr/>
        </p:nvSpPr>
        <p:spPr>
          <a:xfrm>
            <a:off x="9130055" y="1892808"/>
            <a:ext cx="2128952" cy="365760"/>
          </a:xfrm>
          <a:prstGeom prst="rect">
            <a:avLst/>
          </a:prstGeom>
          <a:noFill/>
          <a:ln/>
        </p:spPr>
        <p:txBody>
          <a:bodyPr wrap="square" lIns="0" tIns="0" rIns="0" bIns="0" rtlCol="0" anchor="ctr"/>
          <a:lstStyle/>
          <a:p>
            <a:pPr indent="0" marL="0">
              <a:buNone/>
            </a:pPr>
            <a:r>
              <a:rPr lang="en-US" sz="2200" spc="200" kern="0" dirty="0">
                <a:solidFill>
                  <a:srgbClr val="111111"/>
                </a:solidFill>
                <a:latin typeface="Bahnschrift SemiBold Condensed" pitchFamily="34" charset="0"/>
                <a:ea typeface="Bahnschrift SemiBold Condensed" pitchFamily="34" charset="-122"/>
                <a:cs typeface="Bahnschrift SemiBold Condensed" pitchFamily="34" charset="-120"/>
              </a:rPr>
              <a:t>04 LIVE OR DIE</a:t>
            </a:r>
            <a:endParaRPr lang="en-US" sz="2200" dirty="0"/>
          </a:p>
        </p:txBody>
      </p:sp>
      <p:sp>
        <p:nvSpPr>
          <p:cNvPr id="14" name="Text 12"/>
          <p:cNvSpPr txBox="1"/>
          <p:nvPr/>
        </p:nvSpPr>
        <p:spPr>
          <a:xfrm>
            <a:off x="9130055" y="2331720"/>
            <a:ext cx="2128952" cy="91440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No living neighbour means you're wiped.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THE RULE, IN CODE · PYTORCH</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ONE STEP OF EVERY CELL</a:t>
            </a:r>
            <a:endParaRPr lang="en-US" sz="4000" dirty="0"/>
          </a:p>
        </p:txBody>
      </p:sp>
      <p:sp>
        <p:nvSpPr>
          <p:cNvPr id="4" name="Code plate"/>
          <p:cNvSpPr/>
          <p:nvPr/>
        </p:nvSpPr>
        <p:spPr>
          <a:xfrm>
            <a:off x="731520" y="1600200"/>
            <a:ext cx="6355080" cy="2482596"/>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2208276"/>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def forward(self, 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pre  = self.alive(x)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dx   = self.w2(F.relu(self.w1(</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self.perceive(x))))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mask = (torch.rand_like(x[:, :1])</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&lt;= FIRE_RATE).float()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    = x + dx * mask</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post = self.alive(x)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return x * (pre &amp; post).float()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⑤</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Who's alive right now?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Remember which cells have a living neighbour before anything changes.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Look.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Every cell reads its 3 × 3 neighbourhood — 48 numbers.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Think.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The tiny network turns those 48 numbers into 16 small changes.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Flip a coin.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Only about half the cells apply their change this step.</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⑤  </a:t>
            </a:r>
            <a:pPr indent="0" marL="0">
              <a:buNone/>
            </a:pPr>
            <a:r>
              <a:rPr lang="en-US" sz="1500" b="1" dirty="0">
                <a:solidFill>
                  <a:srgbClr val="111111"/>
                </a:solidFill>
                <a:latin typeface="Calibri" pitchFamily="34" charset="0"/>
                <a:ea typeface="Calibri" pitchFamily="34" charset="-122"/>
                <a:cs typeface="Calibri" pitchFamily="34" charset="-120"/>
              </a:rPr>
              <a:t>Live or die.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 cell survives only if it had living neighbours before and after.</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x holds the whole grid at once: 72 × 72 cells × 16 numbers. This function runs ~60 times a second.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STEP 1 · LOOK</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HOW A CELL SEES</a:t>
            </a:r>
            <a:endParaRPr lang="en-US" sz="4000" dirty="0"/>
          </a:p>
        </p:txBody>
      </p:sp>
      <p:sp>
        <p:nvSpPr>
          <p:cNvPr id="4" name="Code plate"/>
          <p:cNvSpPr/>
          <p:nvPr/>
        </p:nvSpPr>
        <p:spPr>
          <a:xfrm>
            <a:off x="731520" y="1600200"/>
            <a:ext cx="6355080" cy="3415284"/>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3140964"/>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ident   = [[0, 0, 0],</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[0, 1, 0],</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[0, 0, 0]]</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sobel_x = [[-1, 0, 1],</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[-2, 0, 2],</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[-1, 0, 1]] / 8</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sobel_y = sobel_x.T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def perceive(self, 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return F.conv2d(F.pad(x, (1,1,1,1),</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mode="circular"),</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self.kernels,</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groups=CHANNELS)</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“What am I?”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The identity filter just copies the cell's own value.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“Stronger to my left or right?”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Sobel-x subtracts the left column from the right. Positive means more on the right.</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“Above or below?”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The same filter turned on its side.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All 16 channels, all cells at once.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16 numbers × 3 filters = 48 numbers per cell — its whole view of the world, and its sense of direction.</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These are the same edge-detection filters used in photo apps. Here they let a cell feel which way the body is.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STEPS 2 + 3 · THINK AND ACT</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8,320-NUMBER BRAIN</a:t>
            </a:r>
            <a:endParaRPr lang="en-US" sz="4000" dirty="0"/>
          </a:p>
        </p:txBody>
      </p:sp>
      <p:sp>
        <p:nvSpPr>
          <p:cNvPr id="4" name="Code plate"/>
          <p:cNvSpPr/>
          <p:nvPr/>
        </p:nvSpPr>
        <p:spPr>
          <a:xfrm>
            <a:off x="731520" y="1600200"/>
            <a:ext cx="6355080" cy="2482596"/>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2208276"/>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self.w1 = nn.Conv2d(48, 128, 1)</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self.w2 = nn.Conv2d(128, 16, 1,</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bias=False)</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nn.init.zeros_(self.w2.weight)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dx   = self.w2(F.relu(self.w1(p)))</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mask = (torch.rand_like(x[:, :1])</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&lt;= 0.5).float()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⑤</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x    = x + dx * mask</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Layer 1: 48 in, 128 out.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 “1 × 1 convolution” means: run the same small network on every cell separately.</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Layer 2: 128 in, 16 out —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one change for each of the cell's 16 numbers.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Start by doing nothing.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Before training the last layer is all zeros, so nothing explodes.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ReLU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keeps positive signals and zeroes negative ones — that's what lets the network make decisions.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⑤  </a:t>
            </a:r>
            <a:pPr indent="0" marL="0">
              <a:buNone/>
            </a:pPr>
            <a:r>
              <a:rPr lang="en-US" sz="1500" b="1" dirty="0">
                <a:solidFill>
                  <a:srgbClr val="111111"/>
                </a:solidFill>
                <a:latin typeface="Calibri" pitchFamily="34" charset="0"/>
                <a:ea typeface="Calibri" pitchFamily="34" charset="-122"/>
                <a:cs typeface="Calibri" pitchFamily="34" charset="-120"/>
              </a:rPr>
              <a:t>Half the cells, at random.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Real cells don't share a clock, so the rule must work whoever updates first.</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48 × 128 + 128 + 128 × 16 = 8,320 numbers. Every cell shares this one copy.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STEP 4 · LIVE OR DIE</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KEEPING THE BODY TIDY</a:t>
            </a:r>
            <a:endParaRPr lang="en-US" sz="4000" dirty="0"/>
          </a:p>
        </p:txBody>
      </p:sp>
      <p:sp>
        <p:nvSpPr>
          <p:cNvPr id="4" name="Code plate"/>
          <p:cNvSpPr/>
          <p:nvPr/>
        </p:nvSpPr>
        <p:spPr>
          <a:xfrm>
            <a:off x="731520" y="1600200"/>
            <a:ext cx="6355080" cy="2016252"/>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1741932"/>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def alive(x):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alpha = x[:, 3:4]</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return F.max_pool2d(alpha, 3,</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stride=1, padding=1)</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&gt; 0.1</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return x * (pre &amp; post).float()</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Channel 4 is “how alive am I”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(0 = empty, 1 = fully alive).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Max-pool looks at the 3 × 3 square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and takes the biggest value — “is any neighbour alive?”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Above 0.1 counts as alive.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Below that, the cell is treated as empty space.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Wipe the rest.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Any cell that wasn't near life before and after is reset to zeros, so stray pixels can't spread across the dish.</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This is also why a single seed cell works: it's the only spot where life is allowed to start.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CHEMISTRY NOBODY DESIGNED</a:t>
            </a:r>
            <a:endParaRPr lang="en-US" sz="4000" dirty="0"/>
          </a:p>
        </p:txBody>
      </p:sp>
      <p:sp>
        <p:nvSpPr>
          <p:cNvPr id="3" name="Frame 1"/>
          <p:cNvSpPr/>
          <p:nvPr/>
        </p:nvSpPr>
        <p:spPr>
          <a:xfrm>
            <a:off x="1295248" y="1463040"/>
            <a:ext cx="2743200" cy="2743200"/>
          </a:xfrm>
          <a:prstGeom prst="rect">
            <a:avLst/>
          </a:prstGeom>
          <a:ln w="25400">
            <a:solidFill>
              <a:srgbClr val="111111"/>
            </a:solidFill>
            <a:prstDash val="solid"/>
          </a:ln>
        </p:spPr>
      </p:sp>
      <p:pic>
        <p:nvPicPr>
          <p:cNvPr id="4" name="channel_06.png" descr="channel 06 png">    </p:cNvPr>
          <p:cNvPicPr>
            <a:picLocks noChangeAspect="1"/>
          </p:cNvPicPr>
          <p:nvPr/>
        </p:nvPicPr>
        <p:blipFill>
          <a:blip r:embed="rId2"/>
          <a:stretch>
            <a:fillRect/>
          </a:stretch>
        </p:blipFill>
        <p:spPr>
          <a:xfrm>
            <a:off x="1478128" y="1645920"/>
            <a:ext cx="2377440" cy="2377440"/>
          </a:xfrm>
          <a:prstGeom prst="rect">
            <a:avLst/>
          </a:prstGeom>
        </p:spPr>
      </p:pic>
      <p:sp>
        <p:nvSpPr>
          <p:cNvPr id="5" name="Text 2"/>
          <p:cNvSpPr txBox="1"/>
          <p:nvPr/>
        </p:nvSpPr>
        <p:spPr>
          <a:xfrm>
            <a:off x="1295248" y="4389120"/>
            <a:ext cx="2743200" cy="411480"/>
          </a:xfrm>
          <a:prstGeom prst="rect">
            <a:avLst/>
          </a:prstGeom>
          <a:noFill/>
          <a:ln/>
        </p:spPr>
        <p:txBody>
          <a:bodyPr wrap="square" lIns="0" tIns="0" rIns="0" bIns="0" rtlCol="0" anchor="t"/>
          <a:lstStyle/>
          <a:p>
            <a:pPr indent="0" marL="0">
              <a:buNone/>
            </a:pPr>
            <a:r>
              <a:rPr lang="en-US" sz="1600" dirty="0">
                <a:solidFill>
                  <a:srgbClr val="111111"/>
                </a:solidFill>
                <a:latin typeface="Calibri" pitchFamily="34" charset="0"/>
                <a:ea typeface="Calibri" pitchFamily="34" charset="-122"/>
                <a:cs typeface="Calibri" pitchFamily="34" charset="-120"/>
              </a:rPr>
              <a:t>What does this signal mean?</a:t>
            </a:r>
            <a:endParaRPr lang="en-US" sz="1600" dirty="0"/>
          </a:p>
        </p:txBody>
      </p:sp>
      <p:sp>
        <p:nvSpPr>
          <p:cNvPr id="6" name="Text 3"/>
          <p:cNvSpPr txBox="1"/>
          <p:nvPr/>
        </p:nvSpPr>
        <p:spPr>
          <a:xfrm>
            <a:off x="1295248" y="4846320"/>
            <a:ext cx="27432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CHANNEL 6</a:t>
            </a:r>
            <a:endParaRPr lang="en-US" sz="1400" dirty="0"/>
          </a:p>
        </p:txBody>
      </p:sp>
      <p:sp>
        <p:nvSpPr>
          <p:cNvPr id="7" name="Frame 2"/>
          <p:cNvSpPr/>
          <p:nvPr/>
        </p:nvSpPr>
        <p:spPr>
          <a:xfrm>
            <a:off x="4724248" y="1463040"/>
            <a:ext cx="2743200" cy="2743200"/>
          </a:xfrm>
          <a:prstGeom prst="rect">
            <a:avLst/>
          </a:prstGeom>
          <a:ln w="25400">
            <a:solidFill>
              <a:srgbClr val="111111"/>
            </a:solidFill>
            <a:prstDash val="solid"/>
          </a:ln>
        </p:spPr>
      </p:sp>
      <p:pic>
        <p:nvPicPr>
          <p:cNvPr id="8" name="channel_12.png" descr="channel 12 png">    </p:cNvPr>
          <p:cNvPicPr>
            <a:picLocks noChangeAspect="1"/>
          </p:cNvPicPr>
          <p:nvPr/>
        </p:nvPicPr>
        <p:blipFill>
          <a:blip r:embed="rId3"/>
          <a:stretch>
            <a:fillRect/>
          </a:stretch>
        </p:blipFill>
        <p:spPr>
          <a:xfrm>
            <a:off x="4907128" y="1645920"/>
            <a:ext cx="2377440" cy="2377440"/>
          </a:xfrm>
          <a:prstGeom prst="rect">
            <a:avLst/>
          </a:prstGeom>
        </p:spPr>
      </p:pic>
      <p:sp>
        <p:nvSpPr>
          <p:cNvPr id="9" name="Text 5"/>
          <p:cNvSpPr txBox="1"/>
          <p:nvPr/>
        </p:nvSpPr>
        <p:spPr>
          <a:xfrm>
            <a:off x="4724248" y="4389120"/>
            <a:ext cx="2743200" cy="411480"/>
          </a:xfrm>
          <a:prstGeom prst="rect">
            <a:avLst/>
          </a:prstGeom>
          <a:noFill/>
          <a:ln/>
        </p:spPr>
        <p:txBody>
          <a:bodyPr wrap="square" lIns="0" tIns="0" rIns="0" bIns="0" rtlCol="0" anchor="t"/>
          <a:lstStyle/>
          <a:p>
            <a:pPr indent="0" marL="0">
              <a:buNone/>
            </a:pPr>
            <a:r>
              <a:rPr lang="en-US" sz="1600" dirty="0">
                <a:solidFill>
                  <a:srgbClr val="111111"/>
                </a:solidFill>
                <a:latin typeface="Calibri" pitchFamily="34" charset="0"/>
                <a:ea typeface="Calibri" pitchFamily="34" charset="-122"/>
                <a:cs typeface="Calibri" pitchFamily="34" charset="-120"/>
              </a:rPr>
              <a:t>Nobody told it to make this.</a:t>
            </a:r>
            <a:endParaRPr lang="en-US" sz="1600" dirty="0"/>
          </a:p>
        </p:txBody>
      </p:sp>
      <p:sp>
        <p:nvSpPr>
          <p:cNvPr id="10" name="Text 6"/>
          <p:cNvSpPr txBox="1"/>
          <p:nvPr/>
        </p:nvSpPr>
        <p:spPr>
          <a:xfrm>
            <a:off x="4724248" y="4846320"/>
            <a:ext cx="27432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CHANNEL 12</a:t>
            </a:r>
            <a:endParaRPr lang="en-US" sz="1400" dirty="0"/>
          </a:p>
        </p:txBody>
      </p:sp>
      <p:sp>
        <p:nvSpPr>
          <p:cNvPr id="11" name="Frame 3"/>
          <p:cNvSpPr/>
          <p:nvPr/>
        </p:nvSpPr>
        <p:spPr>
          <a:xfrm>
            <a:off x="8153248" y="1463040"/>
            <a:ext cx="2743200" cy="2743200"/>
          </a:xfrm>
          <a:prstGeom prst="rect">
            <a:avLst/>
          </a:prstGeom>
          <a:ln w="25400">
            <a:solidFill>
              <a:srgbClr val="111111"/>
            </a:solidFill>
            <a:prstDash val="solid"/>
          </a:ln>
        </p:spPr>
      </p:sp>
      <p:pic>
        <p:nvPicPr>
          <p:cNvPr id="12" name="channel_14.png" descr="channel 14 png">    </p:cNvPr>
          <p:cNvPicPr>
            <a:picLocks noChangeAspect="1"/>
          </p:cNvPicPr>
          <p:nvPr/>
        </p:nvPicPr>
        <p:blipFill>
          <a:blip r:embed="rId4"/>
          <a:stretch>
            <a:fillRect/>
          </a:stretch>
        </p:blipFill>
        <p:spPr>
          <a:xfrm>
            <a:off x="8336128" y="1645920"/>
            <a:ext cx="2377440" cy="2377440"/>
          </a:xfrm>
          <a:prstGeom prst="rect">
            <a:avLst/>
          </a:prstGeom>
        </p:spPr>
      </p:pic>
      <p:sp>
        <p:nvSpPr>
          <p:cNvPr id="13" name="Text 8"/>
          <p:cNvSpPr txBox="1"/>
          <p:nvPr/>
        </p:nvSpPr>
        <p:spPr>
          <a:xfrm>
            <a:off x="8153248" y="4389120"/>
            <a:ext cx="2743200" cy="411480"/>
          </a:xfrm>
          <a:prstGeom prst="rect">
            <a:avLst/>
          </a:prstGeom>
          <a:noFill/>
          <a:ln/>
        </p:spPr>
        <p:txBody>
          <a:bodyPr wrap="square" lIns="0" tIns="0" rIns="0" bIns="0" rtlCol="0" anchor="t"/>
          <a:lstStyle/>
          <a:p>
            <a:pPr indent="0" marL="0">
              <a:buNone/>
            </a:pPr>
            <a:r>
              <a:rPr lang="en-US" sz="1600" dirty="0">
                <a:solidFill>
                  <a:srgbClr val="111111"/>
                </a:solidFill>
                <a:latin typeface="Calibri" pitchFamily="34" charset="0"/>
                <a:ea typeface="Calibri" pitchFamily="34" charset="-122"/>
                <a:cs typeface="Calibri" pitchFamily="34" charset="-120"/>
              </a:rPr>
              <a:t>It invented these to coordinate.</a:t>
            </a:r>
            <a:endParaRPr lang="en-US" sz="1600" dirty="0"/>
          </a:p>
        </p:txBody>
      </p:sp>
      <p:sp>
        <p:nvSpPr>
          <p:cNvPr id="14" name="Text 9"/>
          <p:cNvSpPr txBox="1"/>
          <p:nvPr/>
        </p:nvSpPr>
        <p:spPr>
          <a:xfrm>
            <a:off x="8153248" y="4846320"/>
            <a:ext cx="27432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CHANNEL 14</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5090008" cy="640080"/>
          </a:xfrm>
          <a:prstGeom prst="rect">
            <a:avLst/>
          </a:prstGeom>
          <a:noFill/>
          <a:ln/>
        </p:spPr>
        <p:txBody>
          <a:bodyPr wrap="square" lIns="0" tIns="0" rIns="0" bIns="0" rtlCol="0" anchor="ctr"/>
          <a:lstStyle/>
          <a:p>
            <a:pPr indent="0" marL="0">
              <a:buNone/>
            </a:pPr>
            <a:r>
              <a:rPr lang="en-US" sz="3600" spc="200" kern="0" dirty="0">
                <a:solidFill>
                  <a:srgbClr val="111111"/>
                </a:solidFill>
                <a:latin typeface="Bahnschrift SemiBold Condensed" pitchFamily="34" charset="0"/>
                <a:ea typeface="Bahnschrift SemiBold Condensed" pitchFamily="34" charset="-122"/>
                <a:cs typeface="Bahnschrift SemiBold Condensed" pitchFamily="34" charset="-120"/>
              </a:rPr>
              <a:t>WHAT I ASKED FOR</a:t>
            </a:r>
            <a:endParaRPr lang="en-US" sz="3600" dirty="0"/>
          </a:p>
        </p:txBody>
      </p:sp>
      <p:sp>
        <p:nvSpPr>
          <p:cNvPr id="3" name="Text 1"/>
          <p:cNvSpPr txBox="1"/>
          <p:nvPr/>
        </p:nvSpPr>
        <p:spPr>
          <a:xfrm>
            <a:off x="6370168" y="502920"/>
            <a:ext cx="5090008" cy="640080"/>
          </a:xfrm>
          <a:prstGeom prst="rect">
            <a:avLst/>
          </a:prstGeom>
          <a:noFill/>
          <a:ln/>
        </p:spPr>
        <p:txBody>
          <a:bodyPr wrap="square" lIns="0" tIns="0" rIns="0" bIns="0" rtlCol="0" anchor="ctr"/>
          <a:lstStyle/>
          <a:p>
            <a:pPr indent="0" marL="0">
              <a:buNone/>
            </a:pPr>
            <a:r>
              <a:rPr lang="en-US" sz="3600" spc="200" kern="0" dirty="0">
                <a:solidFill>
                  <a:srgbClr val="111111"/>
                </a:solidFill>
                <a:latin typeface="Bahnschrift SemiBold Condensed" pitchFamily="34" charset="0"/>
                <a:ea typeface="Bahnschrift SemiBold Condensed" pitchFamily="34" charset="-122"/>
                <a:cs typeface="Bahnschrift SemiBold Condensed" pitchFamily="34" charset="-120"/>
              </a:rPr>
              <a:t>WHAT IT GREW</a:t>
            </a:r>
            <a:endParaRPr lang="en-US" sz="3600" dirty="0"/>
          </a:p>
        </p:txBody>
      </p:sp>
      <p:sp>
        <p:nvSpPr>
          <p:cNvPr id="4" name="Shape 2"/>
          <p:cNvSpPr/>
          <p:nvPr/>
        </p:nvSpPr>
        <p:spPr>
          <a:xfrm>
            <a:off x="6095848" y="548640"/>
            <a:ext cx="0" cy="5669280"/>
          </a:xfrm>
          <a:prstGeom prst="line">
            <a:avLst/>
          </a:prstGeom>
          <a:noFill/>
          <a:ln w="25400">
            <a:solidFill>
              <a:srgbClr val="111111"/>
            </a:solidFill>
            <a:prstDash val="solid"/>
          </a:ln>
        </p:spPr>
      </p:sp>
      <p:pic>
        <p:nvPicPr>
          <p:cNvPr id="5" name="target_emoji.png" descr="target emoji png">    </p:cNvPr>
          <p:cNvPicPr>
            <a:picLocks noChangeAspect="1"/>
          </p:cNvPicPr>
          <p:nvPr/>
        </p:nvPicPr>
        <p:blipFill>
          <a:blip r:embed="rId2"/>
          <a:stretch>
            <a:fillRect/>
          </a:stretch>
        </p:blipFill>
        <p:spPr>
          <a:xfrm>
            <a:off x="1722044" y="1371600"/>
            <a:ext cx="3108960" cy="3108960"/>
          </a:xfrm>
          <a:prstGeom prst="rect">
            <a:avLst/>
          </a:prstGeom>
        </p:spPr>
      </p:pic>
      <p:pic>
        <p:nvPicPr>
          <p:cNvPr id="6" name="lizard_grown.png" descr="lizard grown png">    </p:cNvPr>
          <p:cNvPicPr>
            <a:picLocks noChangeAspect="1"/>
          </p:cNvPicPr>
          <p:nvPr/>
        </p:nvPicPr>
        <p:blipFill>
          <a:blip r:embed="rId3"/>
          <a:stretch>
            <a:fillRect/>
          </a:stretch>
        </p:blipFill>
        <p:spPr>
          <a:xfrm>
            <a:off x="6903491" y="1005840"/>
            <a:ext cx="4023360" cy="4023360"/>
          </a:xfrm>
          <a:prstGeom prst="rect">
            <a:avLst/>
          </a:prstGeom>
        </p:spPr>
      </p:pic>
      <p:sp>
        <p:nvSpPr>
          <p:cNvPr id="7" name="Text 3"/>
          <p:cNvSpPr txBox="1"/>
          <p:nvPr/>
        </p:nvSpPr>
        <p:spPr>
          <a:xfrm>
            <a:off x="731520" y="4892040"/>
            <a:ext cx="5090008" cy="109728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A 40 × 40 lizard emoji.</a:t>
            </a:r>
            <a:endParaRPr lang="en-US" sz="1800" dirty="0"/>
          </a:p>
          <a:p>
            <a:pPr indent="0" marL="0">
              <a:buNone/>
            </a:pPr>
            <a:r>
              <a:rPr lang="en-US" sz="1800" dirty="0">
                <a:solidFill>
                  <a:srgbClr val="111111"/>
                </a:solidFill>
                <a:latin typeface="Calibri" pitchFamily="34" charset="0"/>
                <a:ea typeface="Calibri" pitchFamily="34" charset="-122"/>
                <a:cs typeface="Calibri" pitchFamily="34" charset="-120"/>
              </a:rPr>
              <a:t>Drawn by a person.</a:t>
            </a:r>
            <a:endParaRPr lang="en-US" sz="1800" dirty="0"/>
          </a:p>
          <a:p>
            <a:pPr indent="0" marL="0">
              <a:buNone/>
            </a:pPr>
            <a:r>
              <a:rPr lang="en-US" sz="1800" dirty="0">
                <a:solidFill>
                  <a:srgbClr val="111111"/>
                </a:solidFill>
                <a:latin typeface="Calibri" pitchFamily="34" charset="0"/>
                <a:ea typeface="Calibri" pitchFamily="34" charset="-122"/>
                <a:cs typeface="Calibri" pitchFamily="34" charset="-120"/>
              </a:rPr>
              <a:t>Every pixel placed.</a:t>
            </a:r>
            <a:endParaRPr lang="en-US" sz="1800" dirty="0"/>
          </a:p>
        </p:txBody>
      </p:sp>
      <p:sp>
        <p:nvSpPr>
          <p:cNvPr id="8" name="Text 4"/>
          <p:cNvSpPr txBox="1"/>
          <p:nvPr/>
        </p:nvSpPr>
        <p:spPr>
          <a:xfrm>
            <a:off x="6370168" y="4892040"/>
            <a:ext cx="5090008" cy="109728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Grown from one cell.</a:t>
            </a:r>
            <a:endParaRPr lang="en-US" sz="1800" dirty="0"/>
          </a:p>
          <a:p>
            <a:pPr indent="0" marL="0">
              <a:buNone/>
            </a:pPr>
            <a:r>
              <a:rPr lang="en-US" sz="1800" dirty="0">
                <a:solidFill>
                  <a:srgbClr val="111111"/>
                </a:solidFill>
                <a:latin typeface="Calibri" pitchFamily="34" charset="0"/>
                <a:ea typeface="Calibri" pitchFamily="34" charset="-122"/>
                <a:cs typeface="Calibri" pitchFamily="34" charset="-120"/>
              </a:rPr>
              <a:t>Drawn by nobody.</a:t>
            </a:r>
            <a:endParaRPr lang="en-US" sz="1800" dirty="0"/>
          </a:p>
          <a:p>
            <a:pPr indent="0" marL="0">
              <a:buNone/>
            </a:pPr>
            <a:r>
              <a:rPr lang="en-US" sz="1800" dirty="0">
                <a:solidFill>
                  <a:srgbClr val="111111"/>
                </a:solidFill>
                <a:latin typeface="Calibri" pitchFamily="34" charset="0"/>
                <a:ea typeface="Calibri" pitchFamily="34" charset="-122"/>
                <a:cs typeface="Calibri" pitchFamily="34" charset="-120"/>
              </a:rPr>
              <a:t>98.7% the same shape.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TEACHING IT, ONE MISTAKE AT A TIME</a:t>
            </a:r>
            <a:endParaRPr lang="en-US" sz="4000" dirty="0"/>
          </a:p>
        </p:txBody>
      </p:sp>
      <p:sp>
        <p:nvSpPr>
          <p:cNvPr id="3" name="Text 1"/>
          <p:cNvSpPr txBox="1"/>
          <p:nvPr/>
        </p:nvSpPr>
        <p:spPr>
          <a:xfrm>
            <a:off x="731520" y="1234440"/>
            <a:ext cx="9144000" cy="36576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Error dropped about 100× over 5,000 practice rounds on my laptop GPU.</a:t>
            </a:r>
            <a:endParaRPr lang="en-US" sz="1800" dirty="0"/>
          </a:p>
        </p:txBody>
      </p:sp>
      <p:graphicFrame>
        <p:nvGraphicFramePr>
          <p:cNvPr id="4" name="Training error chart" descr=""/>
          <p:cNvGraphicFramePr/>
          <p:nvPr/>
        </p:nvGraphicFramePr>
        <p:xfrm>
          <a:off x="731520" y="1737360"/>
          <a:ext cx="10728655" cy="448056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HOW I TRAINED IT · PYTORCH ON MY GPU</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PRACTICE, CHECK, ADJUST, REPEAT</a:t>
            </a:r>
            <a:endParaRPr lang="en-US" sz="4000" dirty="0"/>
          </a:p>
        </p:txBody>
      </p:sp>
      <p:sp>
        <p:nvSpPr>
          <p:cNvPr id="4" name="Code plate"/>
          <p:cNvSpPr/>
          <p:nvPr/>
        </p:nvSpPr>
        <p:spPr>
          <a:xfrm>
            <a:off x="731520" y="1600200"/>
            <a:ext cx="6355080" cy="3182112"/>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2907792"/>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for step in range(5000):</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 = pool[idx]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x[:1]  = seed(1)</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x[-3:] = damage(x[-3:])</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for _ in range(random(64, 96)):</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 = model(x)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loss = ((x[:, :4] - target)**2).mean()</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⑤</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loss.backward()</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opt.step()</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⑥</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pool[idx] = 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⑦</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400" b="1" dirty="0">
                <a:solidFill>
                  <a:srgbClr val="111111"/>
                </a:solidFill>
                <a:latin typeface="Calibri" pitchFamily="34" charset="0"/>
                <a:ea typeface="Calibri" pitchFamily="34" charset="-122"/>
                <a:cs typeface="Calibri" pitchFamily="34" charset="-120"/>
              </a:rPr>
              <a:t>Pick 8 creatures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from a pool of 1,024 at every stage of life.</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400" b="1" dirty="0">
                <a:solidFill>
                  <a:srgbClr val="111111"/>
                </a:solidFill>
                <a:latin typeface="Calibri" pitchFamily="34" charset="0"/>
                <a:ea typeface="Calibri" pitchFamily="34" charset="-122"/>
                <a:cs typeface="Calibri" pitchFamily="34" charset="-120"/>
              </a:rPr>
              <a:t>The worst one restarts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from a single cell, so it keeps practising growth.</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400" b="1" dirty="0">
                <a:solidFill>
                  <a:srgbClr val="111111"/>
                </a:solidFill>
                <a:latin typeface="Calibri" pitchFamily="34" charset="0"/>
                <a:ea typeface="Calibri" pitchFamily="34" charset="-122"/>
                <a:cs typeface="Calibri" pitchFamily="34" charset="-120"/>
              </a:rPr>
              <a:t>The best three get wounded,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so it keeps practising healing.</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400" b="1" dirty="0">
                <a:solidFill>
                  <a:srgbClr val="111111"/>
                </a:solidFill>
                <a:latin typeface="Calibri" pitchFamily="34" charset="0"/>
                <a:ea typeface="Calibri" pitchFamily="34" charset="-122"/>
                <a:cs typeface="Calibri" pitchFamily="34" charset="-120"/>
              </a:rPr>
              <a:t>Let them live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64–96 steps.</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⑤  </a:t>
            </a:r>
            <a:pPr indent="0" marL="0">
              <a:buNone/>
            </a:pPr>
            <a:r>
              <a:rPr lang="en-US" sz="1400" b="1" dirty="0">
                <a:solidFill>
                  <a:srgbClr val="111111"/>
                </a:solidFill>
                <a:latin typeface="Calibri" pitchFamily="34" charset="0"/>
                <a:ea typeface="Calibri" pitchFamily="34" charset="-122"/>
                <a:cs typeface="Calibri" pitchFamily="34" charset="-120"/>
              </a:rPr>
              <a:t>Score them: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average squared difference from the lizard emoji.</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⑥  </a:t>
            </a:r>
            <a:pPr indent="0" marL="0">
              <a:buNone/>
            </a:pPr>
            <a:r>
              <a:rPr lang="en-US" sz="1400" b="1" dirty="0">
                <a:solidFill>
                  <a:srgbClr val="111111"/>
                </a:solidFill>
                <a:latin typeface="Calibri" pitchFamily="34" charset="0"/>
                <a:ea typeface="Calibri" pitchFamily="34" charset="-122"/>
                <a:cs typeface="Calibri" pitchFamily="34" charset="-120"/>
              </a:rPr>
              <a:t>Learn: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backpropagation works out how each of the 8,320 numbers caused the error and nudges them all.</a:t>
            </a:r>
            <a:endParaRPr lang="en-US" sz="1400" dirty="0"/>
          </a:p>
          <a:p>
            <a:pPr indent="0" marL="0">
              <a:buNone/>
            </a:pPr>
            <a:r>
              <a:rPr lang="en-US" sz="1700" b="1" dirty="0">
                <a:solidFill>
                  <a:srgbClr val="111111"/>
                </a:solidFill>
                <a:latin typeface="Segoe UI" pitchFamily="34" charset="0"/>
                <a:ea typeface="Segoe UI" pitchFamily="34" charset="-122"/>
                <a:cs typeface="Segoe UI" pitchFamily="34" charset="-120"/>
              </a:rPr>
              <a:t>⑦  </a:t>
            </a:r>
            <a:pPr indent="0" marL="0">
              <a:buNone/>
            </a:pPr>
            <a:r>
              <a:rPr lang="en-US" sz="1400" b="1" dirty="0">
                <a:solidFill>
                  <a:srgbClr val="111111"/>
                </a:solidFill>
                <a:latin typeface="Calibri" pitchFamily="34" charset="0"/>
                <a:ea typeface="Calibri" pitchFamily="34" charset="-122"/>
                <a:cs typeface="Calibri" pitchFamily="34" charset="-120"/>
              </a:rPr>
              <a:t>Put them back </a:t>
            </a:r>
            <a:pPr indent="0" marL="0">
              <a:spcAft>
                <a:spcPts val="900"/>
              </a:spcAft>
              <a:buNone/>
            </a:pPr>
            <a:r>
              <a:rPr lang="en-US" sz="1400" dirty="0">
                <a:solidFill>
                  <a:srgbClr val="111111"/>
                </a:solidFill>
                <a:latin typeface="Calibri" pitchFamily="34" charset="0"/>
                <a:ea typeface="Calibri" pitchFamily="34" charset="-122"/>
                <a:cs typeface="Calibri" pitchFamily="34" charset="-120"/>
              </a:rPr>
              <a:t>so they keep living next round — that's what teaches it to stay a lizard.</a:t>
            </a:r>
            <a:endParaRPr lang="en-US" sz="14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Simplified from train_nca.py.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HOW I TAUGHT IT TO HEAL</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WOUNDING IT ON PURPOSE</a:t>
            </a:r>
            <a:endParaRPr lang="en-US" sz="4000" dirty="0"/>
          </a:p>
        </p:txBody>
      </p:sp>
      <p:sp>
        <p:nvSpPr>
          <p:cNvPr id="4" name="Code plate"/>
          <p:cNvSpPr/>
          <p:nvPr/>
        </p:nvSpPr>
        <p:spPr>
          <a:xfrm>
            <a:off x="731520" y="1600200"/>
            <a:ext cx="6355080" cy="2016252"/>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1741932"/>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def damage(x):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hole = circle(centre=random,</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radius=random)</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cut  = half_plane(angle=random,</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offset=random)</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m = where(coin_flip, cut, hole)</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return x * (~m)</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A round hole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somewhere in the body.</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Or a straight cut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at a random angle — like slicing it in half.</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Half the wounds are each kind.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At first I only used holes, and the butterfly couldn't regrow a missing wing. Adding cuts fixed it: 48% → 94.7% healed.</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Wipe those cells completely —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all 16 numbers set to zero. It's only rewarded if what's left grows it back.</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Simplified from train_nca.py. Nobody tells it how to heal — only that healed lizards score better.</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MAKING IT STAY HEALTHY</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STRESS TEST</a:t>
            </a:r>
            <a:endParaRPr lang="en-US" sz="4000" dirty="0"/>
          </a:p>
        </p:txBody>
      </p:sp>
      <p:sp>
        <p:nvSpPr>
          <p:cNvPr id="4" name="Code plate"/>
          <p:cNvSpPr/>
          <p:nvPr/>
        </p:nvSpPr>
        <p:spPr>
          <a:xfrm>
            <a:off x="731520" y="1600200"/>
            <a:ext cx="6355080" cy="2715768"/>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2441448"/>
          </a:xfrm>
          <a:prstGeom prst="rect">
            <a:avLst/>
          </a:prstGeom>
          <a:noFill/>
          <a:ln/>
        </p:spPr>
        <p:txBody>
          <a:bodyPr wrap="square" lIns="0" tIns="0" rIns="0" bIns="0" rtlCol="0" anchor="t"/>
          <a:lstStyle/>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def evaluate(model):</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x = seed(4)</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run(x, 200);   grow    = score(x)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run(x, 5800);  persist = score(x)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cut_in_half(x)</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run(x, 300);   heal    = score(x)</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return worst(grow, persist, heal)</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④</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if evaluate(model) &lt; best:</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best = ...;  save_weights()</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⑤</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Can it grow?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Score after 200 steps from one cell.</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Can it last?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Keep going to 6,000 steps. My first butterfly looked perfect at step 200 and had fallen apart by 5,000.</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Can it heal?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Cut it in half and give it 300 steps.</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④  </a:t>
            </a:r>
            <a:pPr indent="0" marL="0">
              <a:buNone/>
            </a:pPr>
            <a:r>
              <a:rPr lang="en-US" sz="1500" b="1" dirty="0">
                <a:solidFill>
                  <a:srgbClr val="111111"/>
                </a:solidFill>
                <a:latin typeface="Calibri" pitchFamily="34" charset="0"/>
                <a:ea typeface="Calibri" pitchFamily="34" charset="-122"/>
                <a:cs typeface="Calibri" pitchFamily="34" charset="-120"/>
              </a:rPr>
              <a:t>Judge it by its worst result,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not its best.</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⑤  </a:t>
            </a:r>
            <a:pPr indent="0" marL="0">
              <a:buNone/>
            </a:pPr>
            <a:r>
              <a:rPr lang="en-US" sz="1500" b="1" dirty="0">
                <a:solidFill>
                  <a:srgbClr val="111111"/>
                </a:solidFill>
                <a:latin typeface="Calibri" pitchFamily="34" charset="0"/>
                <a:ea typeface="Calibri" pitchFamily="34" charset="-122"/>
                <a:cs typeface="Calibri" pitchFamily="34" charset="-120"/>
              </a:rPr>
              <a:t>Only save a version that beats every earlier one,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so the demo can never get worse.</a:t>
            </a:r>
            <a:endParaRPr lang="en-US" sz="1500" dirty="0"/>
          </a:p>
        </p:txBody>
      </p:sp>
      <p:sp>
        <p:nvSpPr>
          <p:cNvPr id="7" name="Shape 5"/>
          <p:cNvSpPr/>
          <p:nvPr/>
        </p:nvSpPr>
        <p:spPr>
          <a:xfrm>
            <a:off x="731520" y="6053328"/>
            <a:ext cx="10728655" cy="0"/>
          </a:xfrm>
          <a:prstGeom prst="line">
            <a:avLst/>
          </a:prstGeom>
          <a:noFill/>
          <a:ln w="25400">
            <a:solidFill>
              <a:srgbClr val="111111"/>
            </a:solidFill>
            <a:prstDash val="solid"/>
          </a:ln>
        </p:spPr>
      </p:sp>
      <p:sp>
        <p:nvSpPr>
          <p:cNvPr id="8" name="Text 6"/>
          <p:cNvSpPr txBox="1"/>
          <p:nvPr/>
        </p:nvSpPr>
        <p:spPr>
          <a:xfrm>
            <a:off x="731520" y="6144768"/>
            <a:ext cx="10728655" cy="365760"/>
          </a:xfrm>
          <a:prstGeom prst="rect">
            <a:avLst/>
          </a:prstGeom>
          <a:noFill/>
          <a:ln/>
        </p:spPr>
        <p:txBody>
          <a:bodyPr wrap="square" lIns="0" tIns="0" rIns="0" bIns="0" rtlCol="0" anchor="t"/>
          <a:lstStyle/>
          <a:p>
            <a:pPr indent="0" marL="0">
              <a:buNone/>
            </a:pPr>
            <a:r>
              <a:rPr lang="en-US" sz="1400" dirty="0">
                <a:solidFill>
                  <a:srgbClr val="111111"/>
                </a:solidFill>
                <a:latin typeface="Calibri" pitchFamily="34" charset="0"/>
                <a:ea typeface="Calibri" pitchFamily="34" charset="-122"/>
                <a:cs typeface="Calibri" pitchFamily="34" charset="-120"/>
              </a:rPr>
              <a:t>Simplified from train_nca.py. It ran every 250 training rounds.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365760"/>
            <a:ext cx="82296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RUNNING IT IN YOUR BROWSER · JAVASCRIPT</a:t>
            </a:r>
            <a:endParaRPr lang="en-US" sz="1400" dirty="0"/>
          </a:p>
        </p:txBody>
      </p:sp>
      <p:sp>
        <p:nvSpPr>
          <p:cNvPr id="3" name="Title"/>
          <p:cNvSpPr txBox="1"/>
          <p:nvPr/>
        </p:nvSpPr>
        <p:spPr>
          <a:xfrm>
            <a:off x="731520" y="658368"/>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SAME BRAIN, NO PYTHON</a:t>
            </a:r>
            <a:endParaRPr lang="en-US" sz="4000" dirty="0"/>
          </a:p>
        </p:txBody>
      </p:sp>
      <p:sp>
        <p:nvSpPr>
          <p:cNvPr id="4" name="Code plate"/>
          <p:cNvSpPr/>
          <p:nvPr/>
        </p:nvSpPr>
        <p:spPr>
          <a:xfrm>
            <a:off x="731520" y="1600200"/>
            <a:ext cx="6355080" cy="3415284"/>
          </a:xfrm>
          <a:prstGeom prst="rect">
            <a:avLst/>
          </a:prstGeom>
          <a:solidFill>
            <a:srgbClr val="F6F0E2"/>
          </a:solidFill>
          <a:ln w="12700">
            <a:solidFill>
              <a:srgbClr val="F6F0E2"/>
            </a:solidFill>
            <a:prstDash val="solid"/>
          </a:ln>
        </p:spPr>
      </p:sp>
      <p:sp>
        <p:nvSpPr>
          <p:cNvPr id="5" name="Code"/>
          <p:cNvSpPr txBox="1"/>
          <p:nvPr/>
        </p:nvSpPr>
        <p:spPr>
          <a:xfrm>
            <a:off x="960120" y="1764792"/>
            <a:ext cx="5989320" cy="3140964"/>
          </a:xfrm>
          <a:prstGeom prst="rect">
            <a:avLst/>
          </a:prstGeom>
          <a:noFill/>
          <a:ln/>
        </p:spPr>
        <p:txBody>
          <a:bodyPr wrap="square" lIns="0" tIns="0" rIns="0" bIns="0" rtlCol="0" anchor="t"/>
          <a:lstStyle/>
          <a:p>
            <a:pPr indent="0" marL="0">
              <a:lnSpc>
                <a:spcPct val="100000"/>
              </a:lnSpc>
              <a:buNone/>
            </a:pPr>
            <a:r>
              <a:rPr lang="en-US" sz="1400" dirty="0">
                <a:solidFill>
                  <a:srgbClr val="6B5420"/>
                </a:solidFill>
                <a:latin typeface="Consolas" pitchFamily="34" charset="0"/>
                <a:ea typeface="Consolas" pitchFamily="34" charset="-122"/>
                <a:cs typeface="Consolas" pitchFamily="34" charset="-120"/>
              </a:rPr>
              <a:t>// LOOK: value, left-right, up-down</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pc[c*3]   = st[me + c];</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pc[c*3+1] = (ur + 2*r + dr - ul - 2*l - dl) / 8;</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①</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pc[c*3+2] = (dl + 2*d + dr - ul - 2*u - ur) / 8;</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B5420"/>
                </a:solidFill>
                <a:latin typeface="Consolas" pitchFamily="34" charset="0"/>
                <a:ea typeface="Consolas" pitchFamily="34" charset="-122"/>
                <a:cs typeface="Consolas" pitchFamily="34" charset="-120"/>
              </a:rPr>
              <a:t>// THINK: 48 -&gt; 128, ReLU</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for (h = 0; h &lt; 128; h++) {</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s = b1[h];</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for (p = 0; p &lt; 48; p++) s += w1[h*48+p] * pc[p];</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  hd[h] = s &gt; 0 ? s : 0;</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②</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6B5420"/>
                </a:solidFill>
                <a:latin typeface="Consolas" pitchFamily="34" charset="0"/>
                <a:ea typeface="Consolas" pitchFamily="34" charset="-122"/>
                <a:cs typeface="Consolas" pitchFamily="34" charset="-120"/>
              </a:rPr>
              <a:t>// ACT: 128 -&gt; 16, add to my 16 numbers</a:t>
            </a:r>
            <a:endParaRPr lang="en-US" sz="1400" dirty="0"/>
          </a:p>
          <a:p>
            <a:pPr indent="0" marL="0">
              <a:lnSpc>
                <a:spcPct val="100000"/>
              </a:lnSpc>
              <a:buNone/>
            </a:pPr>
            <a:r>
              <a:rPr lang="en-US" sz="1400" dirty="0">
                <a:solidFill>
                  <a:srgbClr val="111111"/>
                </a:solidFill>
                <a:latin typeface="Consolas" pitchFamily="34" charset="0"/>
                <a:ea typeface="Consolas" pitchFamily="34" charset="-122"/>
                <a:cs typeface="Consolas" pitchFamily="34" charset="-120"/>
              </a:rPr>
              <a:t>for (c = 0; c &lt; 16; c++) { ... next[me+c] += s; }</a:t>
            </a:r>
            <a:pPr indent="0" marL="0">
              <a:lnSpc>
                <a:spcPct val="100000"/>
              </a:lnSpc>
              <a:buNone/>
            </a:pPr>
            <a:r>
              <a:rPr lang="en-US" sz="1600" b="1" dirty="0">
                <a:solidFill>
                  <a:srgbClr val="111111"/>
                </a:solidFill>
                <a:latin typeface="Segoe UI" pitchFamily="34" charset="0"/>
                <a:ea typeface="Segoe UI" pitchFamily="34" charset="-122"/>
                <a:cs typeface="Segoe UI" pitchFamily="34" charset="-120"/>
              </a:rPr>
              <a:t>  ③</a:t>
            </a:r>
            <a:endParaRPr lang="en-US" sz="1400" dirty="0"/>
          </a:p>
        </p:txBody>
      </p:sp>
      <p:sp>
        <p:nvSpPr>
          <p:cNvPr id="6" name="Explanation"/>
          <p:cNvSpPr txBox="1"/>
          <p:nvPr/>
        </p:nvSpPr>
        <p:spPr>
          <a:xfrm>
            <a:off x="7452360" y="1600200"/>
            <a:ext cx="4007815" cy="4114800"/>
          </a:xfrm>
          <a:prstGeom prst="rect">
            <a:avLst/>
          </a:prstGeom>
          <a:noFill/>
          <a:ln/>
        </p:spPr>
        <p:txBody>
          <a:bodyPr wrap="square" lIns="0" tIns="0" rIns="0" bIns="0" rtlCol="0" anchor="t"/>
          <a:lstStyle/>
          <a:p>
            <a:pPr indent="0" marL="0">
              <a:buNone/>
            </a:pPr>
            <a:r>
              <a:rPr lang="en-US" sz="1700" b="1" dirty="0">
                <a:solidFill>
                  <a:srgbClr val="111111"/>
                </a:solidFill>
                <a:latin typeface="Segoe UI" pitchFamily="34" charset="0"/>
                <a:ea typeface="Segoe UI" pitchFamily="34" charset="-122"/>
                <a:cs typeface="Segoe UI" pitchFamily="34" charset="-120"/>
              </a:rPr>
              <a:t>①  </a:t>
            </a:r>
            <a:pPr indent="0" marL="0">
              <a:buNone/>
            </a:pPr>
            <a:r>
              <a:rPr lang="en-US" sz="1500" b="1" dirty="0">
                <a:solidFill>
                  <a:srgbClr val="111111"/>
                </a:solidFill>
                <a:latin typeface="Calibri" pitchFamily="34" charset="0"/>
                <a:ea typeface="Calibri" pitchFamily="34" charset="-122"/>
                <a:cs typeface="Calibri" pitchFamily="34" charset="-120"/>
              </a:rPr>
              <a:t>The Sobel filters, written out by hand —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the 8 neighbours weighted −1, −2, +1, +2.</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②  </a:t>
            </a:r>
            <a:pPr indent="0" marL="0">
              <a:buNone/>
            </a:pPr>
            <a:r>
              <a:rPr lang="en-US" sz="1500" b="1" dirty="0">
                <a:solidFill>
                  <a:srgbClr val="111111"/>
                </a:solidFill>
                <a:latin typeface="Calibri" pitchFamily="34" charset="0"/>
                <a:ea typeface="Calibri" pitchFamily="34" charset="-122"/>
                <a:cs typeface="Calibri" pitchFamily="34" charset="-120"/>
              </a:rPr>
              <a:t>The network as two plain loops.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The 8,320 trained numbers load from a 240 KB file.</a:t>
            </a:r>
            <a:endParaRPr lang="en-US" sz="1500" dirty="0"/>
          </a:p>
          <a:p>
            <a:pPr indent="0" marL="0">
              <a:buNone/>
            </a:pPr>
            <a:r>
              <a:rPr lang="en-US" sz="1700" b="1" dirty="0">
                <a:solidFill>
                  <a:srgbClr val="111111"/>
                </a:solidFill>
                <a:latin typeface="Segoe UI" pitchFamily="34" charset="0"/>
                <a:ea typeface="Segoe UI" pitchFamily="34" charset="-122"/>
                <a:cs typeface="Segoe UI" pitchFamily="34" charset="-120"/>
              </a:rPr>
              <a:t>③  </a:t>
            </a:r>
            <a:pPr indent="0" marL="0">
              <a:buNone/>
            </a:pPr>
            <a:r>
              <a:rPr lang="en-US" sz="1500" b="1" dirty="0">
                <a:solidFill>
                  <a:srgbClr val="111111"/>
                </a:solidFill>
                <a:latin typeface="Calibri" pitchFamily="34" charset="0"/>
                <a:ea typeface="Calibri" pitchFamily="34" charset="-122"/>
                <a:cs typeface="Calibri" pitchFamily="34" charset="-120"/>
              </a:rPr>
              <a:t>Add the changes </a:t>
            </a:r>
            <a:pPr indent="0" marL="0">
              <a:spcAft>
                <a:spcPts val="900"/>
              </a:spcAft>
              <a:buNone/>
            </a:pPr>
            <a:r>
              <a:rPr lang="en-US" sz="1500" dirty="0">
                <a:solidFill>
                  <a:srgbClr val="111111"/>
                </a:solidFill>
                <a:latin typeface="Calibri" pitchFamily="34" charset="0"/>
                <a:ea typeface="Calibri" pitchFamily="34" charset="-122"/>
                <a:cs typeface="Calibri" pitchFamily="34" charset="-120"/>
              </a:rPr>
              <a:t>and run again — about 100 steps a second, on any laptop or phone.</a:t>
            </a:r>
            <a:endParaRPr lang="en-US" sz="1500" dirty="0"/>
          </a:p>
        </p:txBody>
      </p:sp>
      <p:sp>
        <p:nvSpPr>
          <p:cNvPr id="7" name="Shape 5"/>
          <p:cNvSpPr/>
          <p:nvPr/>
        </p:nvSpPr>
        <p:spPr>
          <a:xfrm>
            <a:off x="7452360" y="4343400"/>
            <a:ext cx="4007815" cy="0"/>
          </a:xfrm>
          <a:prstGeom prst="line">
            <a:avLst/>
          </a:prstGeom>
          <a:noFill/>
          <a:ln w="25400">
            <a:solidFill>
              <a:srgbClr val="111111"/>
            </a:solidFill>
            <a:prstDash val="solid"/>
          </a:ln>
        </p:spPr>
      </p:sp>
      <p:sp>
        <p:nvSpPr>
          <p:cNvPr id="8" name="Text 6"/>
          <p:cNvSpPr txBox="1"/>
          <p:nvPr/>
        </p:nvSpPr>
        <p:spPr>
          <a:xfrm>
            <a:off x="7452360" y="4526280"/>
            <a:ext cx="1554480" cy="822960"/>
          </a:xfrm>
          <a:prstGeom prst="rect">
            <a:avLst/>
          </a:prstGeom>
          <a:noFill/>
          <a:ln/>
        </p:spPr>
        <p:txBody>
          <a:bodyPr wrap="square" lIns="0" tIns="0" rIns="0" bIns="0" rtlCol="0" anchor="ctr"/>
          <a:lstStyle/>
          <a:p>
            <a:pPr indent="0" marL="0">
              <a:buNone/>
            </a:pPr>
            <a:r>
              <a:rPr lang="en-US" sz="4800" dirty="0">
                <a:solidFill>
                  <a:srgbClr val="111111"/>
                </a:solidFill>
                <a:latin typeface="Bahnschrift SemiBold Condensed" pitchFamily="34" charset="0"/>
                <a:ea typeface="Bahnschrift SemiBold Condensed" pitchFamily="34" charset="-122"/>
                <a:cs typeface="Bahnschrift SemiBold Condensed" pitchFamily="34" charset="-120"/>
              </a:rPr>
              <a:t>10</a:t>
            </a:r>
            <a:pPr indent="0" marL="0">
              <a:buNone/>
            </a:pPr>
            <a:r>
              <a:rPr lang="en-US" sz="4800" baseline="30000" dirty="0">
                <a:solidFill>
                  <a:srgbClr val="111111"/>
                </a:solidFill>
                <a:latin typeface="Bahnschrift SemiBold Condensed" pitchFamily="34" charset="0"/>
                <a:ea typeface="Bahnschrift SemiBold Condensed" pitchFamily="34" charset="-122"/>
                <a:cs typeface="Bahnschrift SemiBold Condensed" pitchFamily="34" charset="-120"/>
              </a:rPr>
              <a:t>−15</a:t>
            </a:r>
            <a:endParaRPr lang="en-US" sz="4800" dirty="0"/>
          </a:p>
        </p:txBody>
      </p:sp>
      <p:sp>
        <p:nvSpPr>
          <p:cNvPr id="9" name="Text 7"/>
          <p:cNvSpPr txBox="1"/>
          <p:nvPr/>
        </p:nvSpPr>
        <p:spPr>
          <a:xfrm>
            <a:off x="9052560" y="4572000"/>
            <a:ext cx="2407615" cy="822960"/>
          </a:xfrm>
          <a:prstGeom prst="rect">
            <a:avLst/>
          </a:prstGeom>
          <a:noFill/>
          <a:ln/>
        </p:spPr>
        <p:txBody>
          <a:bodyPr wrap="square" lIns="0" tIns="0" rIns="0" bIns="0" rtlCol="0" anchor="t"/>
          <a:lstStyle/>
          <a:p>
            <a:pPr indent="0" marL="0">
              <a:buNone/>
            </a:pPr>
            <a:r>
              <a:rPr lang="en-US" sz="1500" dirty="0">
                <a:solidFill>
                  <a:srgbClr val="111111"/>
                </a:solidFill>
                <a:latin typeface="Calibri" pitchFamily="34" charset="0"/>
                <a:ea typeface="Calibri" pitchFamily="34" charset="-122"/>
                <a:cs typeface="Calibri" pitchFamily="34" charset="-120"/>
              </a:rPr>
              <a:t>Biggest difference from PyTorch after 40 steps. I checked it number by number.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0" y="548640"/>
            <a:ext cx="12191695" cy="3474720"/>
          </a:xfrm>
          <a:prstGeom prst="rect">
            <a:avLst/>
          </a:prstGeom>
          <a:noFill/>
          <a:ln/>
        </p:spPr>
        <p:txBody>
          <a:bodyPr wrap="square" lIns="0" tIns="0" rIns="0" bIns="0" rtlCol="0" anchor="ctr"/>
          <a:lstStyle/>
          <a:p>
            <a:pPr algn="ctr" indent="0" marL="0">
              <a:buNone/>
            </a:pPr>
            <a:r>
              <a:rPr lang="en-US" sz="23000" dirty="0">
                <a:ln w="31750">
                  <a:solidFill>
                    <a:srgbClr val="111111"/>
                  </a:solidFill>
                </a:ln>
                <a:solidFill>
                  <a:srgbClr val="F6F0E2"/>
                </a:solidFill>
                <a:latin typeface="Bahnschrift SemiBold Condensed" pitchFamily="34" charset="0"/>
                <a:ea typeface="Bahnschrift SemiBold Condensed" pitchFamily="34" charset="-122"/>
                <a:cs typeface="Bahnschrift SemiBold Condensed" pitchFamily="34" charset="-120"/>
              </a:rPr>
              <a:t>03</a:t>
            </a:r>
            <a:endParaRPr lang="en-US" sz="23000" dirty="0"/>
          </a:p>
        </p:txBody>
      </p:sp>
      <p:sp>
        <p:nvSpPr>
          <p:cNvPr id="3" name="Title"/>
          <p:cNvSpPr txBox="1"/>
          <p:nvPr/>
        </p:nvSpPr>
        <p:spPr>
          <a:xfrm>
            <a:off x="0" y="4160520"/>
            <a:ext cx="12191695" cy="640080"/>
          </a:xfrm>
          <a:prstGeom prst="rect">
            <a:avLst/>
          </a:prstGeom>
          <a:noFill/>
          <a:ln/>
        </p:spPr>
        <p:txBody>
          <a:bodyPr wrap="square" lIns="0" tIns="0" rIns="0" bIns="0" rtlCol="0" anchor="ctr"/>
          <a:lstStyle/>
          <a:p>
            <a:pPr algn="ctr" indent="0" marL="0">
              <a:buNone/>
            </a:pPr>
            <a:r>
              <a:rPr lang="en-US" sz="4000" spc="300" kern="0" dirty="0">
                <a:solidFill>
                  <a:srgbClr val="111111"/>
                </a:solidFill>
                <a:latin typeface="Bahnschrift SemiBold Condensed" pitchFamily="34" charset="0"/>
                <a:ea typeface="Bahnschrift SemiBold Condensed" pitchFamily="34" charset="-122"/>
                <a:cs typeface="Bahnschrift SemiBold Condensed" pitchFamily="34" charset="-120"/>
              </a:rPr>
              <a:t>WHEN IT FELL APART</a:t>
            </a:r>
            <a:endParaRPr lang="en-US" sz="4000" dirty="0"/>
          </a:p>
        </p:txBody>
      </p:sp>
      <p:pic>
        <p:nvPicPr>
          <p:cNvPr id="4" name="heal_1_cut.png" descr="heal 1 cut png">    </p:cNvPr>
          <p:cNvPicPr>
            <a:picLocks noChangeAspect="1"/>
          </p:cNvPicPr>
          <p:nvPr/>
        </p:nvPicPr>
        <p:blipFill>
          <a:blip r:embed="rId2"/>
          <a:stretch>
            <a:fillRect/>
          </a:stretch>
        </p:blipFill>
        <p:spPr>
          <a:xfrm>
            <a:off x="3429000" y="4937760"/>
            <a:ext cx="594360" cy="594360"/>
          </a:xfrm>
          <a:prstGeom prst="rect">
            <a:avLst/>
          </a:prstGeom>
        </p:spPr>
      </p:pic>
      <p:sp>
        <p:nvSpPr>
          <p:cNvPr id="5" name="Text 2"/>
          <p:cNvSpPr txBox="1"/>
          <p:nvPr/>
        </p:nvSpPr>
        <p:spPr>
          <a:xfrm>
            <a:off x="4206240" y="5074920"/>
            <a:ext cx="5029200" cy="36576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Growing was easy. Staying alive was hard.</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BUTTERFLY THAT FORGOT ITSELF</a:t>
            </a:r>
            <a:endParaRPr lang="en-US" sz="4000" dirty="0"/>
          </a:p>
        </p:txBody>
      </p:sp>
      <p:graphicFrame>
        <p:nvGraphicFramePr>
          <p:cNvPr id="3" name="Stability chart" descr=""/>
          <p:cNvGraphicFramePr/>
          <p:nvPr/>
        </p:nvGraphicFramePr>
        <p:xfrm>
          <a:off x="731520" y="1463040"/>
          <a:ext cx="7315200" cy="4480560"/>
        </p:xfrm>
        <a:graphic xmlns:a="http://schemas.openxmlformats.org/drawingml/2006/main">
          <a:graphicData uri="http://schemas.openxmlformats.org/drawingml/2006/chart">
            <c:chart xmlns:c="http://schemas.openxmlformats.org/drawingml/2006/chart" r:id="rId2"/>
          </a:graphicData>
        </a:graphic>
      </p:graphicFrame>
      <p:sp>
        <p:nvSpPr>
          <p:cNvPr id="4" name="Shape 1"/>
          <p:cNvSpPr/>
          <p:nvPr/>
        </p:nvSpPr>
        <p:spPr>
          <a:xfrm>
            <a:off x="8503920" y="2651760"/>
            <a:ext cx="2956255" cy="0"/>
          </a:xfrm>
          <a:prstGeom prst="line">
            <a:avLst/>
          </a:prstGeom>
          <a:noFill/>
          <a:ln w="25400">
            <a:solidFill>
              <a:srgbClr val="111111"/>
            </a:solidFill>
            <a:prstDash val="solid"/>
          </a:ln>
        </p:spPr>
      </p:sp>
      <p:sp>
        <p:nvSpPr>
          <p:cNvPr id="5" name="Text 2"/>
          <p:cNvSpPr txBox="1"/>
          <p:nvPr/>
        </p:nvSpPr>
        <p:spPr>
          <a:xfrm>
            <a:off x="8503920" y="2788920"/>
            <a:ext cx="2743200" cy="274320"/>
          </a:xfrm>
          <a:prstGeom prst="rect">
            <a:avLst/>
          </a:prstGeom>
          <a:noFill/>
          <a:ln/>
        </p:spPr>
        <p:txBody>
          <a:bodyPr wrap="square" lIns="0" tIns="0" rIns="0" bIns="0" rtlCol="0" anchor="ctr"/>
          <a:lstStyle/>
          <a:p>
            <a:pPr indent="0" marL="0">
              <a:buNone/>
            </a:pPr>
            <a:r>
              <a:rPr lang="en-US" sz="1400" spc="400" kern="0" dirty="0">
                <a:solidFill>
                  <a:srgbClr val="111111"/>
                </a:solidFill>
                <a:latin typeface="Bahnschrift SemiBold Condensed" pitchFamily="34" charset="0"/>
                <a:ea typeface="Bahnschrift SemiBold Condensed" pitchFamily="34" charset="-122"/>
                <a:cs typeface="Bahnschrift SemiBold Condensed" pitchFamily="34" charset="-120"/>
              </a:rPr>
              <a:t>KEY TAKEAWAY</a:t>
            </a:r>
            <a:endParaRPr lang="en-US" sz="1400" dirty="0"/>
          </a:p>
        </p:txBody>
      </p:sp>
      <p:sp>
        <p:nvSpPr>
          <p:cNvPr id="6" name="Text 3"/>
          <p:cNvSpPr txBox="1"/>
          <p:nvPr/>
        </p:nvSpPr>
        <p:spPr>
          <a:xfrm>
            <a:off x="8503920" y="3154680"/>
            <a:ext cx="2956255" cy="128016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It learned to grow but not to stay. Stress-testing every version fixed it.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10728655"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THE FINAL CHECK</a:t>
            </a:r>
            <a:endParaRPr lang="en-US" sz="4000" dirty="0"/>
          </a:p>
        </p:txBody>
      </p:sp>
      <p:sp>
        <p:nvSpPr>
          <p:cNvPr id="3" name="Shape 1"/>
          <p:cNvSpPr/>
          <p:nvPr/>
        </p:nvSpPr>
        <p:spPr>
          <a:xfrm>
            <a:off x="731520" y="2103120"/>
            <a:ext cx="3576218" cy="0"/>
          </a:xfrm>
          <a:prstGeom prst="line">
            <a:avLst/>
          </a:prstGeom>
          <a:noFill/>
          <a:ln w="25400">
            <a:solidFill>
              <a:srgbClr val="111111"/>
            </a:solidFill>
            <a:prstDash val="solid"/>
          </a:ln>
        </p:spPr>
      </p:sp>
      <p:sp>
        <p:nvSpPr>
          <p:cNvPr id="4" name="Text 2"/>
          <p:cNvSpPr txBox="1"/>
          <p:nvPr/>
        </p:nvSpPr>
        <p:spPr>
          <a:xfrm>
            <a:off x="731520" y="2331720"/>
            <a:ext cx="3393338" cy="1371600"/>
          </a:xfrm>
          <a:prstGeom prst="rect">
            <a:avLst/>
          </a:prstGeom>
          <a:noFill/>
          <a:ln/>
        </p:spPr>
        <p:txBody>
          <a:bodyPr wrap="square" lIns="0" tIns="0" rIns="0" bIns="0" rtlCol="0" anchor="ctr"/>
          <a:lstStyle/>
          <a:p>
            <a:pPr indent="0" marL="0">
              <a:buNone/>
            </a:pPr>
            <a:r>
              <a:rPr lang="en-US" sz="8000" dirty="0">
                <a:solidFill>
                  <a:srgbClr val="111111"/>
                </a:solidFill>
                <a:latin typeface="Bahnschrift SemiBold Condensed" pitchFamily="34" charset="0"/>
                <a:ea typeface="Bahnschrift SemiBold Condensed" pitchFamily="34" charset="-122"/>
                <a:cs typeface="Bahnschrift SemiBold Condensed" pitchFamily="34" charset="-120"/>
              </a:rPr>
              <a:t>98.7%</a:t>
            </a:r>
            <a:endParaRPr lang="en-US" sz="8000" dirty="0"/>
          </a:p>
        </p:txBody>
      </p:sp>
      <p:sp>
        <p:nvSpPr>
          <p:cNvPr id="5" name="Text 3"/>
          <p:cNvSpPr txBox="1"/>
          <p:nvPr/>
        </p:nvSpPr>
        <p:spPr>
          <a:xfrm>
            <a:off x="731520" y="3840480"/>
            <a:ext cx="3256178" cy="822960"/>
          </a:xfrm>
          <a:prstGeom prst="rect">
            <a:avLst/>
          </a:prstGeom>
          <a:noFill/>
          <a:ln/>
        </p:spPr>
        <p:txBody>
          <a:bodyPr wrap="square" lIns="0" tIns="0" rIns="0" bIns="0" rtlCol="0" anchor="t"/>
          <a:lstStyle/>
          <a:p>
            <a:pPr indent="0" marL="0">
              <a:buNone/>
            </a:pPr>
            <a:r>
              <a:rPr lang="en-US" sz="1700" dirty="0">
                <a:solidFill>
                  <a:srgbClr val="111111"/>
                </a:solidFill>
                <a:latin typeface="Calibri" pitchFamily="34" charset="0"/>
                <a:ea typeface="Calibri" pitchFamily="34" charset="-122"/>
                <a:cs typeface="Calibri" pitchFamily="34" charset="-120"/>
              </a:rPr>
              <a:t>Lizard shape held for 10,000 steps</a:t>
            </a:r>
            <a:endParaRPr lang="en-US" sz="1700" dirty="0"/>
          </a:p>
        </p:txBody>
      </p:sp>
      <p:sp>
        <p:nvSpPr>
          <p:cNvPr id="6" name="Shape 4"/>
          <p:cNvSpPr/>
          <p:nvPr/>
        </p:nvSpPr>
        <p:spPr>
          <a:xfrm>
            <a:off x="4307738" y="2103120"/>
            <a:ext cx="3576218" cy="0"/>
          </a:xfrm>
          <a:prstGeom prst="line">
            <a:avLst/>
          </a:prstGeom>
          <a:noFill/>
          <a:ln w="25400">
            <a:solidFill>
              <a:srgbClr val="111111"/>
            </a:solidFill>
            <a:prstDash val="solid"/>
          </a:ln>
        </p:spPr>
      </p:sp>
      <p:sp>
        <p:nvSpPr>
          <p:cNvPr id="7" name="Shape 5"/>
          <p:cNvSpPr/>
          <p:nvPr/>
        </p:nvSpPr>
        <p:spPr>
          <a:xfrm>
            <a:off x="4307738" y="2103120"/>
            <a:ext cx="0" cy="2743200"/>
          </a:xfrm>
          <a:prstGeom prst="line">
            <a:avLst/>
          </a:prstGeom>
          <a:noFill/>
          <a:ln w="25400">
            <a:solidFill>
              <a:srgbClr val="111111"/>
            </a:solidFill>
            <a:prstDash val="solid"/>
          </a:ln>
        </p:spPr>
      </p:sp>
      <p:sp>
        <p:nvSpPr>
          <p:cNvPr id="8" name="Text 6"/>
          <p:cNvSpPr txBox="1"/>
          <p:nvPr/>
        </p:nvSpPr>
        <p:spPr>
          <a:xfrm>
            <a:off x="4627778" y="2331720"/>
            <a:ext cx="3073298" cy="1371600"/>
          </a:xfrm>
          <a:prstGeom prst="rect">
            <a:avLst/>
          </a:prstGeom>
          <a:noFill/>
          <a:ln/>
        </p:spPr>
        <p:txBody>
          <a:bodyPr wrap="square" lIns="0" tIns="0" rIns="0" bIns="0" rtlCol="0" anchor="ctr"/>
          <a:lstStyle/>
          <a:p>
            <a:pPr indent="0" marL="0">
              <a:buNone/>
            </a:pPr>
            <a:r>
              <a:rPr lang="en-US" sz="8000" dirty="0">
                <a:solidFill>
                  <a:srgbClr val="111111"/>
                </a:solidFill>
                <a:latin typeface="Bahnschrift SemiBold Condensed" pitchFamily="34" charset="0"/>
                <a:ea typeface="Bahnschrift SemiBold Condensed" pitchFamily="34" charset="-122"/>
                <a:cs typeface="Bahnschrift SemiBold Condensed" pitchFamily="34" charset="-120"/>
              </a:rPr>
              <a:t>94.7%</a:t>
            </a:r>
            <a:endParaRPr lang="en-US" sz="8000" dirty="0"/>
          </a:p>
        </p:txBody>
      </p:sp>
      <p:sp>
        <p:nvSpPr>
          <p:cNvPr id="9" name="Text 7"/>
          <p:cNvSpPr txBox="1"/>
          <p:nvPr/>
        </p:nvSpPr>
        <p:spPr>
          <a:xfrm>
            <a:off x="4627778" y="3840480"/>
            <a:ext cx="2936138" cy="822960"/>
          </a:xfrm>
          <a:prstGeom prst="rect">
            <a:avLst/>
          </a:prstGeom>
          <a:noFill/>
          <a:ln/>
        </p:spPr>
        <p:txBody>
          <a:bodyPr wrap="square" lIns="0" tIns="0" rIns="0" bIns="0" rtlCol="0" anchor="t"/>
          <a:lstStyle/>
          <a:p>
            <a:pPr indent="0" marL="0">
              <a:buNone/>
            </a:pPr>
            <a:r>
              <a:rPr lang="en-US" sz="1700" dirty="0">
                <a:solidFill>
                  <a:srgbClr val="111111"/>
                </a:solidFill>
                <a:latin typeface="Calibri" pitchFamily="34" charset="0"/>
                <a:ea typeface="Calibri" pitchFamily="34" charset="-122"/>
                <a:cs typeface="Calibri" pitchFamily="34" charset="-120"/>
              </a:rPr>
              <a:t>Butterfly healed after being cut in half</a:t>
            </a:r>
            <a:endParaRPr lang="en-US" sz="1700" dirty="0"/>
          </a:p>
        </p:txBody>
      </p:sp>
      <p:sp>
        <p:nvSpPr>
          <p:cNvPr id="10" name="Shape 8"/>
          <p:cNvSpPr/>
          <p:nvPr/>
        </p:nvSpPr>
        <p:spPr>
          <a:xfrm>
            <a:off x="7883957" y="2103120"/>
            <a:ext cx="3576218" cy="0"/>
          </a:xfrm>
          <a:prstGeom prst="line">
            <a:avLst/>
          </a:prstGeom>
          <a:noFill/>
          <a:ln w="25400">
            <a:solidFill>
              <a:srgbClr val="111111"/>
            </a:solidFill>
            <a:prstDash val="solid"/>
          </a:ln>
        </p:spPr>
      </p:sp>
      <p:sp>
        <p:nvSpPr>
          <p:cNvPr id="11" name="Shape 9"/>
          <p:cNvSpPr/>
          <p:nvPr/>
        </p:nvSpPr>
        <p:spPr>
          <a:xfrm>
            <a:off x="7883957" y="2103120"/>
            <a:ext cx="0" cy="2743200"/>
          </a:xfrm>
          <a:prstGeom prst="line">
            <a:avLst/>
          </a:prstGeom>
          <a:noFill/>
          <a:ln w="25400">
            <a:solidFill>
              <a:srgbClr val="111111"/>
            </a:solidFill>
            <a:prstDash val="solid"/>
          </a:ln>
        </p:spPr>
      </p:sp>
      <p:sp>
        <p:nvSpPr>
          <p:cNvPr id="12" name="Text 10"/>
          <p:cNvSpPr txBox="1"/>
          <p:nvPr/>
        </p:nvSpPr>
        <p:spPr>
          <a:xfrm>
            <a:off x="8203997" y="2331720"/>
            <a:ext cx="3073298" cy="1371600"/>
          </a:xfrm>
          <a:prstGeom prst="rect">
            <a:avLst/>
          </a:prstGeom>
          <a:noFill/>
          <a:ln/>
        </p:spPr>
        <p:txBody>
          <a:bodyPr wrap="square" lIns="0" tIns="0" rIns="0" bIns="0" rtlCol="0" anchor="ctr"/>
          <a:lstStyle/>
          <a:p>
            <a:pPr indent="0" marL="0">
              <a:buNone/>
            </a:pPr>
            <a:r>
              <a:rPr lang="en-US" sz="8000" dirty="0">
                <a:solidFill>
                  <a:srgbClr val="111111"/>
                </a:solidFill>
                <a:latin typeface="Bahnschrift SemiBold Condensed" pitchFamily="34" charset="0"/>
                <a:ea typeface="Bahnschrift SemiBold Condensed" pitchFamily="34" charset="-122"/>
                <a:cs typeface="Bahnschrift SemiBold Condensed" pitchFamily="34" charset="-120"/>
              </a:rPr>
              <a:t>10</a:t>
            </a:r>
            <a:pPr indent="0" marL="0">
              <a:buNone/>
            </a:pPr>
            <a:r>
              <a:rPr lang="en-US" sz="8000" baseline="30000" dirty="0">
                <a:solidFill>
                  <a:srgbClr val="111111"/>
                </a:solidFill>
                <a:latin typeface="Bahnschrift SemiBold Condensed" pitchFamily="34" charset="0"/>
                <a:ea typeface="Bahnschrift SemiBold Condensed" pitchFamily="34" charset="-122"/>
                <a:cs typeface="Bahnschrift SemiBold Condensed" pitchFamily="34" charset="-120"/>
              </a:rPr>
              <a:t>−15</a:t>
            </a:r>
            <a:endParaRPr lang="en-US" sz="8000" dirty="0"/>
          </a:p>
        </p:txBody>
      </p:sp>
      <p:sp>
        <p:nvSpPr>
          <p:cNvPr id="13" name="Text 11"/>
          <p:cNvSpPr txBox="1"/>
          <p:nvPr/>
        </p:nvSpPr>
        <p:spPr>
          <a:xfrm>
            <a:off x="8203997" y="3840480"/>
            <a:ext cx="2936138" cy="822960"/>
          </a:xfrm>
          <a:prstGeom prst="rect">
            <a:avLst/>
          </a:prstGeom>
          <a:noFill/>
          <a:ln/>
        </p:spPr>
        <p:txBody>
          <a:bodyPr wrap="square" lIns="0" tIns="0" rIns="0" bIns="0" rtlCol="0" anchor="t"/>
          <a:lstStyle/>
          <a:p>
            <a:pPr indent="0" marL="0">
              <a:buNone/>
            </a:pPr>
            <a:r>
              <a:rPr lang="en-US" sz="1700" dirty="0">
                <a:solidFill>
                  <a:srgbClr val="111111"/>
                </a:solidFill>
                <a:latin typeface="Calibri" pitchFamily="34" charset="0"/>
                <a:ea typeface="Calibri" pitchFamily="34" charset="-122"/>
                <a:cs typeface="Calibri" pitchFamily="34" charset="-120"/>
              </a:rPr>
              <a:t>Biggest difference between my browser code and PyTorch</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cNvSpPr txBox="1"/>
          <p:nvPr/>
        </p:nvSpPr>
        <p:spPr>
          <a:xfrm>
            <a:off x="731520" y="502920"/>
            <a:ext cx="8229600" cy="731520"/>
          </a:xfrm>
          <a:prstGeom prst="rect">
            <a:avLst/>
          </a:prstGeom>
          <a:noFill/>
          <a:ln/>
        </p:spPr>
        <p:txBody>
          <a:bodyPr wrap="square" lIns="0" tIns="0" rIns="0" bIns="0" rtlCol="0" anchor="t"/>
          <a:lstStyle/>
          <a:p>
            <a:pPr indent="0" marL="0">
              <a:buNone/>
            </a:pPr>
            <a:r>
              <a:rPr lang="en-US" sz="4000" spc="200" kern="0" dirty="0">
                <a:solidFill>
                  <a:srgbClr val="111111"/>
                </a:solidFill>
                <a:latin typeface="Bahnschrift SemiBold Condensed" pitchFamily="34" charset="0"/>
                <a:ea typeface="Bahnschrift SemiBold Condensed" pitchFamily="34" charset="-122"/>
                <a:cs typeface="Bahnschrift SemiBold Condensed" pitchFamily="34" charset="-120"/>
              </a:rPr>
              <a:t>WHAT BUILDING IT TAUGHT ME</a:t>
            </a:r>
            <a:endParaRPr lang="en-US" sz="4000" dirty="0"/>
          </a:p>
        </p:txBody>
      </p:sp>
      <p:pic>
        <p:nvPicPr>
          <p:cNvPr id="3" name="grow_3_step60.png" descr="grow 3 step60 png">    </p:cNvPr>
          <p:cNvPicPr>
            <a:picLocks noChangeAspect="1"/>
          </p:cNvPicPr>
          <p:nvPr/>
        </p:nvPicPr>
        <p:blipFill>
          <a:blip r:embed="rId2"/>
          <a:stretch>
            <a:fillRect/>
          </a:stretch>
        </p:blipFill>
        <p:spPr>
          <a:xfrm>
            <a:off x="10545775" y="411480"/>
            <a:ext cx="914400" cy="914400"/>
          </a:xfrm>
          <a:prstGeom prst="rect">
            <a:avLst/>
          </a:prstGeom>
        </p:spPr>
      </p:pic>
      <p:sp>
        <p:nvSpPr>
          <p:cNvPr id="4" name="Text 1"/>
          <p:cNvSpPr txBox="1"/>
          <p:nvPr/>
        </p:nvSpPr>
        <p:spPr>
          <a:xfrm>
            <a:off x="731520" y="1920240"/>
            <a:ext cx="4998568" cy="411480"/>
          </a:xfrm>
          <a:prstGeom prst="rect">
            <a:avLst/>
          </a:prstGeom>
          <a:noFill/>
          <a:ln/>
        </p:spPr>
        <p:txBody>
          <a:bodyPr wrap="square" lIns="0" tIns="0" rIns="0" bIns="0" rtlCol="0" anchor="ctr"/>
          <a:lstStyle/>
          <a:p>
            <a:pPr indent="0" marL="0">
              <a:buNone/>
            </a:pPr>
            <a:r>
              <a:rPr lang="en-US" sz="2400" spc="200" kern="0" dirty="0">
                <a:solidFill>
                  <a:srgbClr val="111111"/>
                </a:solidFill>
                <a:latin typeface="Bahnschrift SemiBold Condensed" pitchFamily="34" charset="0"/>
                <a:ea typeface="Bahnschrift SemiBold Condensed" pitchFamily="34" charset="-122"/>
                <a:cs typeface="Bahnschrift SemiBold Condensed" pitchFamily="34" charset="-120"/>
              </a:rPr>
              <a:t>TEST FOR LONG ENOUGH.</a:t>
            </a:r>
            <a:endParaRPr lang="en-US" sz="2400" dirty="0"/>
          </a:p>
        </p:txBody>
      </p:sp>
      <p:sp>
        <p:nvSpPr>
          <p:cNvPr id="5" name="Text 2"/>
          <p:cNvSpPr txBox="1"/>
          <p:nvPr/>
        </p:nvSpPr>
        <p:spPr>
          <a:xfrm>
            <a:off x="731520" y="2423160"/>
            <a:ext cx="4998568" cy="73152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It looked perfect at step 200 and fell apart by 5,000.</a:t>
            </a:r>
            <a:endParaRPr lang="en-US" sz="1800" dirty="0"/>
          </a:p>
        </p:txBody>
      </p:sp>
      <p:sp>
        <p:nvSpPr>
          <p:cNvPr id="6" name="Text 3"/>
          <p:cNvSpPr txBox="1"/>
          <p:nvPr/>
        </p:nvSpPr>
        <p:spPr>
          <a:xfrm>
            <a:off x="6461608" y="1920240"/>
            <a:ext cx="4998568" cy="411480"/>
          </a:xfrm>
          <a:prstGeom prst="rect">
            <a:avLst/>
          </a:prstGeom>
          <a:noFill/>
          <a:ln/>
        </p:spPr>
        <p:txBody>
          <a:bodyPr wrap="square" lIns="0" tIns="0" rIns="0" bIns="0" rtlCol="0" anchor="ctr"/>
          <a:lstStyle/>
          <a:p>
            <a:pPr indent="0" marL="0">
              <a:buNone/>
            </a:pPr>
            <a:r>
              <a:rPr lang="en-US" sz="2400" spc="200" kern="0" dirty="0">
                <a:solidFill>
                  <a:srgbClr val="111111"/>
                </a:solidFill>
                <a:latin typeface="Bahnschrift SemiBold Condensed" pitchFamily="34" charset="0"/>
                <a:ea typeface="Bahnschrift SemiBold Condensed" pitchFamily="34" charset="-122"/>
                <a:cs typeface="Bahnschrift SemiBold Condensed" pitchFamily="34" charset="-120"/>
              </a:rPr>
              <a:t>TRAIN ON THE HARD CASE.</a:t>
            </a:r>
            <a:endParaRPr lang="en-US" sz="2400" dirty="0"/>
          </a:p>
        </p:txBody>
      </p:sp>
      <p:sp>
        <p:nvSpPr>
          <p:cNvPr id="7" name="Text 4"/>
          <p:cNvSpPr txBox="1"/>
          <p:nvPr/>
        </p:nvSpPr>
        <p:spPr>
          <a:xfrm>
            <a:off x="6461608" y="2423160"/>
            <a:ext cx="4998568" cy="73152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It only healed half-cuts once I practised half-cuts.</a:t>
            </a:r>
            <a:endParaRPr lang="en-US" sz="1800" dirty="0"/>
          </a:p>
        </p:txBody>
      </p:sp>
      <p:sp>
        <p:nvSpPr>
          <p:cNvPr id="8" name="Text 5"/>
          <p:cNvSpPr txBox="1"/>
          <p:nvPr/>
        </p:nvSpPr>
        <p:spPr>
          <a:xfrm>
            <a:off x="731520" y="3657600"/>
            <a:ext cx="4998568" cy="411480"/>
          </a:xfrm>
          <a:prstGeom prst="rect">
            <a:avLst/>
          </a:prstGeom>
          <a:noFill/>
          <a:ln/>
        </p:spPr>
        <p:txBody>
          <a:bodyPr wrap="square" lIns="0" tIns="0" rIns="0" bIns="0" rtlCol="0" anchor="ctr"/>
          <a:lstStyle/>
          <a:p>
            <a:pPr indent="0" marL="0">
              <a:buNone/>
            </a:pPr>
            <a:r>
              <a:rPr lang="en-US" sz="2400" spc="200" kern="0" dirty="0">
                <a:solidFill>
                  <a:srgbClr val="111111"/>
                </a:solidFill>
                <a:latin typeface="Bahnschrift SemiBold Condensed" pitchFamily="34" charset="0"/>
                <a:ea typeface="Bahnschrift SemiBold Condensed" pitchFamily="34" charset="-122"/>
                <a:cs typeface="Bahnschrift SemiBold Condensed" pitchFamily="34" charset="-120"/>
              </a:rPr>
              <a:t>CHECK THE HARDWARE.</a:t>
            </a:r>
            <a:endParaRPr lang="en-US" sz="2400" dirty="0"/>
          </a:p>
        </p:txBody>
      </p:sp>
      <p:sp>
        <p:nvSpPr>
          <p:cNvPr id="9" name="Text 6"/>
          <p:cNvSpPr txBox="1"/>
          <p:nvPr/>
        </p:nvSpPr>
        <p:spPr>
          <a:xfrm>
            <a:off x="731520" y="4160520"/>
            <a:ext cx="4998568" cy="73152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On battery, training ran 5× slower.</a:t>
            </a:r>
            <a:endParaRPr lang="en-US" sz="1800" dirty="0"/>
          </a:p>
        </p:txBody>
      </p:sp>
      <p:sp>
        <p:nvSpPr>
          <p:cNvPr id="10" name="Text 7"/>
          <p:cNvSpPr txBox="1"/>
          <p:nvPr/>
        </p:nvSpPr>
        <p:spPr>
          <a:xfrm>
            <a:off x="6461608" y="3657600"/>
            <a:ext cx="4998568" cy="411480"/>
          </a:xfrm>
          <a:prstGeom prst="rect">
            <a:avLst/>
          </a:prstGeom>
          <a:noFill/>
          <a:ln/>
        </p:spPr>
        <p:txBody>
          <a:bodyPr wrap="square" lIns="0" tIns="0" rIns="0" bIns="0" rtlCol="0" anchor="ctr"/>
          <a:lstStyle/>
          <a:p>
            <a:pPr indent="0" marL="0">
              <a:buNone/>
            </a:pPr>
            <a:r>
              <a:rPr lang="en-US" sz="2400" spc="200" kern="0" dirty="0">
                <a:solidFill>
                  <a:srgbClr val="111111"/>
                </a:solidFill>
                <a:latin typeface="Bahnschrift SemiBold Condensed" pitchFamily="34" charset="0"/>
                <a:ea typeface="Bahnschrift SemiBold Condensed" pitchFamily="34" charset="-122"/>
                <a:cs typeface="Bahnschrift SemiBold Condensed" pitchFamily="34" charset="-120"/>
              </a:rPr>
              <a:t>PROVE THE COPY.</a:t>
            </a:r>
            <a:endParaRPr lang="en-US" sz="2400" dirty="0"/>
          </a:p>
        </p:txBody>
      </p:sp>
      <p:sp>
        <p:nvSpPr>
          <p:cNvPr id="11" name="Text 8"/>
          <p:cNvSpPr txBox="1"/>
          <p:nvPr/>
        </p:nvSpPr>
        <p:spPr>
          <a:xfrm>
            <a:off x="6461608" y="4160520"/>
            <a:ext cx="4998568" cy="731520"/>
          </a:xfrm>
          <a:prstGeom prst="rect">
            <a:avLst/>
          </a:prstGeom>
          <a:noFill/>
          <a:ln/>
        </p:spPr>
        <p:txBody>
          <a:bodyPr wrap="square" lIns="0" tIns="0" rIns="0" bIns="0" rtlCol="0" anchor="t"/>
          <a:lstStyle/>
          <a:p>
            <a:pPr indent="0" marL="0">
              <a:buNone/>
            </a:pPr>
            <a:r>
              <a:rPr lang="en-US" sz="1800" dirty="0">
                <a:solidFill>
                  <a:srgbClr val="111111"/>
                </a:solidFill>
                <a:latin typeface="Calibri" pitchFamily="34" charset="0"/>
                <a:ea typeface="Calibri" pitchFamily="34" charset="-122"/>
                <a:cs typeface="Calibri" pitchFamily="34" charset="-120"/>
              </a:rPr>
              <a:t>I compared the browser and PyTorch number by number.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Quote"/>
          <p:cNvSpPr txBox="1"/>
          <p:nvPr/>
        </p:nvSpPr>
        <p:spPr>
          <a:xfrm>
            <a:off x="731520" y="1097280"/>
            <a:ext cx="7223760" cy="3566160"/>
          </a:xfrm>
          <a:prstGeom prst="rect">
            <a:avLst/>
          </a:prstGeom>
          <a:noFill/>
          <a:ln/>
        </p:spPr>
        <p:txBody>
          <a:bodyPr wrap="square" lIns="0" tIns="0" rIns="0" bIns="0" rtlCol="0" anchor="ctr"/>
          <a:lstStyle/>
          <a:p>
            <a:pPr indent="0" marL="0">
              <a:lnSpc>
                <a:spcPct val="105000"/>
              </a:lnSpc>
              <a:buNone/>
            </a:pPr>
            <a:r>
              <a:rPr lang="en-US" sz="3800" spc="100" kern="0" dirty="0">
                <a:solidFill>
                  <a:srgbClr val="111111"/>
                </a:solidFill>
                <a:latin typeface="Bahnschrift SemiBold Condensed" pitchFamily="34" charset="0"/>
                <a:ea typeface="Bahnschrift SemiBold Condensed" pitchFamily="34" charset="-122"/>
                <a:cs typeface="Bahnschrift SemiBold Condensed" pitchFamily="34" charset="-120"/>
              </a:rPr>
              <a:t>CUT A PLANARIAN WORM INTO PIECES AND EACH PIECE GROWS A WHOLE NEW WORM. THE CELLS DON'T HAVE A PICTURE OF THE WORM. THEY HAVE A RULE.</a:t>
            </a:r>
            <a:endParaRPr lang="en-US" sz="3800" dirty="0"/>
          </a:p>
        </p:txBody>
      </p:sp>
      <p:sp>
        <p:nvSpPr>
          <p:cNvPr id="3" name="Text 1"/>
          <p:cNvSpPr txBox="1"/>
          <p:nvPr/>
        </p:nvSpPr>
        <p:spPr>
          <a:xfrm>
            <a:off x="731520" y="4937760"/>
            <a:ext cx="7863840" cy="274320"/>
          </a:xfrm>
          <a:prstGeom prst="rect">
            <a:avLst/>
          </a:prstGeom>
          <a:noFill/>
          <a:ln/>
        </p:spPr>
        <p:txBody>
          <a:bodyPr wrap="square" lIns="0" tIns="0" rIns="0" bIns="0" rtlCol="0" anchor="ctr"/>
          <a:lstStyle/>
          <a:p>
            <a:pPr indent="0" marL="0">
              <a:buNone/>
            </a:pPr>
            <a:r>
              <a:rPr lang="en-US" sz="1200" spc="300" kern="0" dirty="0">
                <a:solidFill>
                  <a:srgbClr val="111111"/>
                </a:solidFill>
                <a:latin typeface="Bahnschrift SemiBold Condensed" pitchFamily="34" charset="0"/>
                <a:ea typeface="Bahnschrift SemiBold Condensed" pitchFamily="34" charset="-122"/>
                <a:cs typeface="Bahnschrift SemiBold Condensed" pitchFamily="34" charset="-120"/>
              </a:rPr>
              <a:t>THE IDEA BEHIND GROWING NEURAL CELLULAR AUTOMATA · DISTILL, 2020</a:t>
            </a:r>
            <a:endParaRPr lang="en-US" sz="1200" dirty="0"/>
          </a:p>
        </p:txBody>
      </p:sp>
      <p:pic>
        <p:nvPicPr>
          <p:cNvPr id="4" name="lizard_stencil.png" descr="lizard stencil png">    </p:cNvPr>
          <p:cNvPicPr>
            <a:picLocks noChangeAspect="1"/>
          </p:cNvPicPr>
          <p:nvPr/>
        </p:nvPicPr>
        <p:blipFill>
          <a:blip r:embed="rId2"/>
          <a:stretch>
            <a:fillRect/>
          </a:stretch>
        </p:blipFill>
        <p:spPr>
          <a:xfrm>
            <a:off x="7452360" y="914400"/>
            <a:ext cx="4937760" cy="493776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heal_4_plus250.png" descr="heal 4 plus250 png">    </p:cNvPr>
          <p:cNvPicPr>
            <a:picLocks noChangeAspect="1"/>
          </p:cNvPicPr>
          <p:nvPr/>
        </p:nvPicPr>
        <p:blipFill>
          <a:blip r:embed="rId2"/>
          <a:stretch>
            <a:fillRect/>
          </a:stretch>
        </p:blipFill>
        <p:spPr>
          <a:xfrm>
            <a:off x="731520" y="640080"/>
            <a:ext cx="1920240" cy="1920240"/>
          </a:xfrm>
          <a:prstGeom prst="rect">
            <a:avLst/>
          </a:prstGeom>
        </p:spPr>
      </p:pic>
      <p:sp>
        <p:nvSpPr>
          <p:cNvPr id="3" name="Title"/>
          <p:cNvSpPr txBox="1"/>
          <p:nvPr/>
        </p:nvSpPr>
        <p:spPr>
          <a:xfrm>
            <a:off x="731520" y="2788920"/>
            <a:ext cx="5943600" cy="1737360"/>
          </a:xfrm>
          <a:prstGeom prst="rect">
            <a:avLst/>
          </a:prstGeom>
          <a:noFill/>
          <a:ln/>
        </p:spPr>
        <p:txBody>
          <a:bodyPr wrap="square" lIns="0" tIns="0" rIns="0" bIns="0" rtlCol="0" anchor="t"/>
          <a:lstStyle/>
          <a:p>
            <a:pPr indent="0" marL="0">
              <a:lnSpc>
                <a:spcPct val="90000"/>
              </a:lnSpc>
              <a:buNone/>
            </a:pPr>
            <a:r>
              <a:rPr lang="en-US" sz="6600" spc="200" kern="0" dirty="0">
                <a:solidFill>
                  <a:srgbClr val="111111"/>
                </a:solidFill>
                <a:latin typeface="Bahnschrift SemiBold Condensed" pitchFamily="34" charset="0"/>
                <a:ea typeface="Bahnschrift SemiBold Condensed" pitchFamily="34" charset="-122"/>
                <a:cs typeface="Bahnschrift SemiBold Condensed" pitchFamily="34" charset="-120"/>
              </a:rPr>
              <a:t>NOW YOU</a:t>
            </a:r>
            <a:endParaRPr lang="en-US" sz="6600" dirty="0"/>
          </a:p>
          <a:p>
            <a:pPr indent="0" marL="0">
              <a:lnSpc>
                <a:spcPct val="90000"/>
              </a:lnSpc>
              <a:buNone/>
            </a:pPr>
            <a:r>
              <a:rPr lang="en-US" sz="6600" spc="200" kern="0" dirty="0">
                <a:solidFill>
                  <a:srgbClr val="111111"/>
                </a:solidFill>
                <a:latin typeface="Bahnschrift SemiBold Condensed" pitchFamily="34" charset="0"/>
                <a:ea typeface="Bahnschrift SemiBold Condensed" pitchFamily="34" charset="-122"/>
                <a:cs typeface="Bahnschrift SemiBold Condensed" pitchFamily="34" charset="-120"/>
              </a:rPr>
              <a:t>CUT IT</a:t>
            </a:r>
            <a:endParaRPr lang="en-US" sz="6600" dirty="0"/>
          </a:p>
        </p:txBody>
      </p:sp>
      <p:sp>
        <p:nvSpPr>
          <p:cNvPr id="4" name="Text 1"/>
          <p:cNvSpPr txBox="1"/>
          <p:nvPr/>
        </p:nvSpPr>
        <p:spPr>
          <a:xfrm>
            <a:off x="731520" y="4709160"/>
            <a:ext cx="5303520" cy="822960"/>
          </a:xfrm>
          <a:prstGeom prst="rect">
            <a:avLst/>
          </a:prstGeom>
          <a:noFill/>
          <a:ln/>
        </p:spPr>
        <p:txBody>
          <a:bodyPr wrap="square" lIns="0" tIns="0" rIns="0" bIns="0" rtlCol="0" anchor="t"/>
          <a:lstStyle/>
          <a:p>
            <a:pPr indent="0" marL="0">
              <a:buNone/>
            </a:pPr>
            <a:r>
              <a:rPr lang="en-US" sz="2000" dirty="0">
                <a:solidFill>
                  <a:srgbClr val="111111"/>
                </a:solidFill>
                <a:latin typeface="Calibri" pitchFamily="34" charset="0"/>
                <a:ea typeface="Calibri" pitchFamily="34" charset="-122"/>
                <a:cs typeface="Calibri" pitchFamily="34" charset="-120"/>
              </a:rPr>
              <a:t>Scan the code, plant one cell, and slice it however you like. It will grow back.</a:t>
            </a:r>
            <a:endParaRPr lang="en-US" sz="2000" dirty="0"/>
          </a:p>
        </p:txBody>
      </p:sp>
      <p:pic>
        <p:nvPicPr>
          <p:cNvPr id="5" name="qr_heal.png" descr="QR code: opens the healing pixels demo">    </p:cNvPr>
          <p:cNvPicPr>
            <a:picLocks noChangeAspect="1"/>
          </p:cNvPicPr>
          <p:nvPr/>
        </p:nvPicPr>
        <p:blipFill>
          <a:blip r:embed="rId3"/>
          <a:stretch>
            <a:fillRect/>
          </a:stretch>
        </p:blipFill>
        <p:spPr>
          <a:xfrm>
            <a:off x="6766560" y="594360"/>
            <a:ext cx="4480560" cy="4480560"/>
          </a:xfrm>
          <a:prstGeom prst="rect">
            <a:avLst/>
          </a:prstGeom>
        </p:spPr>
      </p:pic>
      <p:sp>
        <p:nvSpPr>
          <p:cNvPr id="6" name="Text 2"/>
          <p:cNvSpPr txBox="1"/>
          <p:nvPr/>
        </p:nvSpPr>
        <p:spPr>
          <a:xfrm>
            <a:off x="6766560" y="5212080"/>
            <a:ext cx="4480560" cy="320040"/>
          </a:xfrm>
          <a:prstGeom prst="rect">
            <a:avLst/>
          </a:prstGeom>
          <a:noFill/>
          <a:ln/>
        </p:spPr>
        <p:txBody>
          <a:bodyPr wrap="square" lIns="0" tIns="0" rIns="0" bIns="0" rtlCol="0" anchor="ctr"/>
          <a:lstStyle/>
          <a:p>
            <a:pPr algn="ctr" indent="0" marL="0">
              <a:buNone/>
            </a:pPr>
            <a:r>
              <a:rPr lang="en-US" sz="1800" spc="400" kern="0" dirty="0">
                <a:solidFill>
                  <a:srgbClr val="111111"/>
                </a:solidFill>
                <a:latin typeface="Bahnschrift SemiBold Condensed" pitchFamily="34" charset="0"/>
                <a:ea typeface="Bahnschrift SemiBold Condensed" pitchFamily="34" charset="-122"/>
                <a:cs typeface="Bahnschrift SemiBold Condensed" pitchFamily="34" charset="-120"/>
              </a:rPr>
              <a:t>SCAN TO CUT IT YOURSELF</a:t>
            </a:r>
            <a:endParaRPr lang="en-US" sz="1800" dirty="0"/>
          </a:p>
        </p:txBody>
      </p:sp>
      <p:sp>
        <p:nvSpPr>
          <p:cNvPr id="7" name="Text 3"/>
          <p:cNvSpPr txBox="1"/>
          <p:nvPr/>
        </p:nvSpPr>
        <p:spPr>
          <a:xfrm>
            <a:off x="6309360" y="5577840"/>
            <a:ext cx="5394960" cy="320040"/>
          </a:xfrm>
          <a:prstGeom prst="rect">
            <a:avLst/>
          </a:prstGeom>
          <a:noFill/>
          <a:ln/>
        </p:spPr>
        <p:txBody>
          <a:bodyPr wrap="square" lIns="0" tIns="0" rIns="0" bIns="0" rtlCol="0" anchor="t"/>
          <a:lstStyle/>
          <a:p>
            <a:pPr algn="ctr" indent="0" marL="0">
              <a:buNone/>
            </a:pPr>
            <a:r>
              <a:rPr lang="en-US" sz="1300" dirty="0">
                <a:solidFill>
                  <a:srgbClr val="111111"/>
                </a:solidFill>
                <a:latin typeface="Calibri" pitchFamily="34" charset="0"/>
                <a:ea typeface="Calibri" pitchFamily="34" charset="-122"/>
                <a:cs typeface="Calibri" pitchFamily="34" charset="-120"/>
              </a:rPr>
              <a:t>reyaattri.github.io/Wait-A-Computer-Can-Do-That-/heal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SemiBold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Taught Pixels to Heal Themselves</dc:title>
  <dc:subject>Wait! A computer can do that? · Lecture 02</dc:subject>
  <dc:creator>Reya Attri</dc:creator>
  <cp:lastModifiedBy>Reya Attri</cp:lastModifiedBy>
  <cp:revision>1</cp:revision>
  <dcterms:created xsi:type="dcterms:W3CDTF">2026-10-29T16:31:06Z</dcterms:created>
  <dcterms:modified xsi:type="dcterms:W3CDTF">2026-10-29T16:31:06Z</dcterms:modified>
</cp:coreProperties>
</file>